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Grounded DocParse by applying my Accelerate with AI learning to a practical workplace problem: turning complex scanned documents into structured information without losing the path back to the source.
[Sources]
- 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Document-heavy work often repeats the same four steps. Someone reads the packet, sorts the content, re-keys the required values, and then returns to the source to verify them. The process is slow to review and difficult to trace when the document contains mixed layouts, forms, tables, or checkboxes.
[Sources]
- docs/business-user-extraction-workflow.md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approach is to parse the document once and create grounded evidence: reading order, element IDs, page numbers, and bounding boxes. That same parse can then support classification, form routing, field extraction, grounded chat, visual review, and structured export. Optional AI reasoning consumes the evidence; it does not replace its geometry.
[Sources]
- README.md
- docs/complete-user-guide.md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practitioner manual source review, parsing, extraction, and grounded chat each exceeded ninety-five percent correctness across six anonymous PDFs and ninety-seven pages. The review included checkbox states where they appeared. This is a project validation result, not an independently audited production benchmark.
[Sources]
- Practitioner manual source review, July 2026 (six anonymous PDFs, 97 pages)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shows how I turned AI learning into a reusable accelerator: less repeated document work, a faster path to structured data, and evidence that keeps people in control. Grounded DocParse is still a project-inspired prototype, but it demonstrates a practical pattern that can be adapted to many document-heavy workflows.
[Sources]
- README.md
- docs/business-user-extraction-workflow.md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IDEO_DARK">
    <p:bg>
      <p:bgPr>
        <a:solidFill>
          <a:srgbClr val="0B1118"/>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658368" y="347472"/>
            <a:ext cx="7498080" cy="219456"/>
          </a:xfrm>
          <a:prstGeom prst="rect">
            <a:avLst/>
          </a:prstGeom>
          <a:noFill/>
          <a:ln/>
        </p:spPr>
        <p:txBody>
          <a:bodyPr wrap="square" lIns="0" tIns="0" rIns="0" bIns="0" rtlCol="0" anchor="ctr">
            <a:normAutofit/>
          </a:bodyPr>
          <a:lstStyle/>
          <a:p>
            <a:pPr indent="0" marL="0">
              <a:buNone/>
            </a:pPr>
            <a:r>
              <a:rPr lang="en-US" sz="1100" b="1" spc="120" kern="0" dirty="0">
                <a:solidFill>
                  <a:srgbClr val="58D5F8"/>
                </a:solidFill>
                <a:latin typeface="Arial" pitchFamily="34" charset="0"/>
                <a:ea typeface="Arial" pitchFamily="34" charset="-122"/>
                <a:cs typeface="Arial" pitchFamily="34" charset="-120"/>
              </a:rPr>
              <a:t>ACCELERATE WITH AI  /  APPLIED LEARNING IN ACTION</a:t>
            </a:r>
            <a:endParaRPr lang="en-US" sz="1100" dirty="0"/>
          </a:p>
        </p:txBody>
      </p:sp>
      <p:sp>
        <p:nvSpPr>
          <p:cNvPr id="3" name="Text 1"/>
          <p:cNvSpPr/>
          <p:nvPr/>
        </p:nvSpPr>
        <p:spPr>
          <a:xfrm>
            <a:off x="658368" y="1060704"/>
            <a:ext cx="7223760" cy="786384"/>
          </a:xfrm>
          <a:prstGeom prst="rect">
            <a:avLst/>
          </a:prstGeom>
          <a:noFill/>
          <a:ln/>
        </p:spPr>
        <p:txBody>
          <a:bodyPr wrap="none" lIns="0" tIns="0" rIns="0" bIns="0" rtlCol="0" anchor="ctr">
            <a:normAutofit/>
          </a:bodyPr>
          <a:lstStyle/>
          <a:p>
            <a:pPr indent="0" marL="0">
              <a:buNone/>
            </a:pPr>
            <a:r>
              <a:rPr lang="en-US" sz="5200" b="1" dirty="0">
                <a:solidFill>
                  <a:srgbClr val="F4F7FB"/>
                </a:solidFill>
                <a:latin typeface="Arial" pitchFamily="34" charset="0"/>
                <a:ea typeface="Arial" pitchFamily="34" charset="-122"/>
                <a:cs typeface="Arial" pitchFamily="34" charset="-120"/>
              </a:rPr>
              <a:t>Grounded DocParse</a:t>
            </a:r>
            <a:endParaRPr lang="en-US" sz="5200" dirty="0"/>
          </a:p>
        </p:txBody>
      </p:sp>
      <p:sp>
        <p:nvSpPr>
          <p:cNvPr id="4" name="Text 2"/>
          <p:cNvSpPr/>
          <p:nvPr/>
        </p:nvSpPr>
        <p:spPr>
          <a:xfrm>
            <a:off x="685800" y="1984248"/>
            <a:ext cx="5989320" cy="658368"/>
          </a:xfrm>
          <a:prstGeom prst="rect">
            <a:avLst/>
          </a:prstGeom>
          <a:noFill/>
          <a:ln/>
        </p:spPr>
        <p:txBody>
          <a:bodyPr wrap="square" lIns="0" tIns="0" rIns="0" bIns="0" rtlCol="0" anchor="t">
            <a:normAutofit/>
          </a:bodyPr>
          <a:lstStyle/>
          <a:p>
            <a:pPr indent="0" marL="0">
              <a:buNone/>
            </a:pPr>
            <a:r>
              <a:rPr lang="en-US" sz="2400" dirty="0">
                <a:solidFill>
                  <a:srgbClr val="9AAABD"/>
                </a:solidFill>
                <a:latin typeface="Arial" pitchFamily="34" charset="0"/>
                <a:ea typeface="Arial" pitchFamily="34" charset="-122"/>
                <a:cs typeface="Arial" pitchFamily="34" charset="-120"/>
              </a:rPr>
              <a:t>AI-assisted document work linked to source evidence</a:t>
            </a:r>
            <a:endParaRPr lang="en-US" sz="2400" dirty="0"/>
          </a:p>
        </p:txBody>
      </p:sp>
      <p:sp>
        <p:nvSpPr>
          <p:cNvPr id="5" name="Text 3"/>
          <p:cNvSpPr/>
          <p:nvPr/>
        </p:nvSpPr>
        <p:spPr>
          <a:xfrm>
            <a:off x="685800" y="5440680"/>
            <a:ext cx="2926080" cy="228600"/>
          </a:xfrm>
          <a:prstGeom prst="rect">
            <a:avLst/>
          </a:prstGeom>
          <a:noFill/>
          <a:ln/>
        </p:spPr>
        <p:txBody>
          <a:bodyPr wrap="square" lIns="0" tIns="0" rIns="0" bIns="0" rtlCol="0" anchor="ctr">
            <a:normAutofit/>
          </a:bodyPr>
          <a:lstStyle/>
          <a:p>
            <a:pPr indent="0" marL="0">
              <a:buNone/>
            </a:pPr>
            <a:r>
              <a:rPr lang="en-US" sz="1200" b="1" spc="130" kern="0" dirty="0">
                <a:solidFill>
                  <a:srgbClr val="F7B955"/>
                </a:solidFill>
                <a:latin typeface="Arial" pitchFamily="34" charset="0"/>
                <a:ea typeface="Arial" pitchFamily="34" charset="-122"/>
                <a:cs typeface="Arial" pitchFamily="34" charset="-120"/>
              </a:rPr>
              <a:t>AHMAD MUJTABA</a:t>
            </a:r>
            <a:endParaRPr lang="en-US" sz="1200" dirty="0"/>
          </a:p>
        </p:txBody>
      </p:sp>
      <p:sp>
        <p:nvSpPr>
          <p:cNvPr id="6" name="Text 4"/>
          <p:cNvSpPr/>
          <p:nvPr/>
        </p:nvSpPr>
        <p:spPr>
          <a:xfrm>
            <a:off x="685800" y="5779008"/>
            <a:ext cx="3383280" cy="256032"/>
          </a:xfrm>
          <a:prstGeom prst="rect">
            <a:avLst/>
          </a:prstGeom>
          <a:noFill/>
          <a:ln/>
        </p:spPr>
        <p:txBody>
          <a:bodyPr wrap="square" lIns="0" tIns="0" rIns="0" bIns="0" rtlCol="0" anchor="ctr">
            <a:normAutofit/>
          </a:bodyPr>
          <a:lstStyle/>
          <a:p>
            <a:pPr indent="0" marL="0">
              <a:buNone/>
            </a:pPr>
            <a:r>
              <a:rPr lang="en-US" sz="1400" dirty="0">
                <a:solidFill>
                  <a:srgbClr val="9AAABD"/>
                </a:solidFill>
                <a:latin typeface="Arial" pitchFamily="34" charset="0"/>
                <a:ea typeface="Arial" pitchFamily="34" charset="-122"/>
                <a:cs typeface="Arial" pitchFamily="34" charset="-120"/>
              </a:rPr>
              <a:t>Project-inspired prototype</a:t>
            </a:r>
            <a:endParaRPr lang="en-US" sz="1400" dirty="0"/>
          </a:p>
        </p:txBody>
      </p:sp>
      <p:sp>
        <p:nvSpPr>
          <p:cNvPr id="7" name="Shape 5"/>
          <p:cNvSpPr/>
          <p:nvPr/>
        </p:nvSpPr>
        <p:spPr>
          <a:xfrm>
            <a:off x="7973568" y="2039112"/>
            <a:ext cx="621792" cy="420624"/>
          </a:xfrm>
          <a:prstGeom prst="line">
            <a:avLst/>
          </a:prstGeom>
          <a:noFill/>
          <a:ln w="25400">
            <a:solidFill>
              <a:srgbClr val="796FFF"/>
            </a:solidFill>
            <a:prstDash val="solid"/>
            <a:tailEnd type="triangle"/>
          </a:ln>
        </p:spPr>
      </p:sp>
      <p:sp>
        <p:nvSpPr>
          <p:cNvPr id="8" name="Shape 6"/>
          <p:cNvSpPr/>
          <p:nvPr/>
        </p:nvSpPr>
        <p:spPr>
          <a:xfrm>
            <a:off x="9208008" y="2862072"/>
            <a:ext cx="585216" cy="502920"/>
          </a:xfrm>
          <a:prstGeom prst="line">
            <a:avLst/>
          </a:prstGeom>
          <a:noFill/>
          <a:ln w="25400">
            <a:solidFill>
              <a:srgbClr val="58D5F8"/>
            </a:solidFill>
            <a:prstDash val="solid"/>
            <a:tailEnd type="triangle"/>
          </a:ln>
        </p:spPr>
      </p:sp>
      <p:sp>
        <p:nvSpPr>
          <p:cNvPr id="9" name="Shape 7"/>
          <p:cNvSpPr/>
          <p:nvPr/>
        </p:nvSpPr>
        <p:spPr>
          <a:xfrm>
            <a:off x="7095744" y="1417320"/>
            <a:ext cx="1444752" cy="1078992"/>
          </a:xfrm>
          <a:prstGeom prst="roundRect">
            <a:avLst/>
          </a:prstGeom>
          <a:solidFill>
            <a:srgbClr val="172438"/>
          </a:solidFill>
          <a:ln w="15240">
            <a:solidFill>
              <a:srgbClr val="796FFF"/>
            </a:solidFill>
            <a:prstDash val="solid"/>
          </a:ln>
        </p:spPr>
      </p:sp>
      <p:sp>
        <p:nvSpPr>
          <p:cNvPr id="10" name="Shape 8"/>
          <p:cNvSpPr/>
          <p:nvPr/>
        </p:nvSpPr>
        <p:spPr>
          <a:xfrm>
            <a:off x="8595360" y="2276856"/>
            <a:ext cx="1408176" cy="1078992"/>
          </a:xfrm>
          <a:prstGeom prst="roundRect">
            <a:avLst/>
          </a:prstGeom>
          <a:solidFill>
            <a:srgbClr val="172438"/>
          </a:solidFill>
          <a:ln w="15240">
            <a:solidFill>
              <a:srgbClr val="58D5F8"/>
            </a:solidFill>
            <a:prstDash val="solid"/>
          </a:ln>
        </p:spPr>
      </p:sp>
      <p:sp>
        <p:nvSpPr>
          <p:cNvPr id="11" name="Shape 9"/>
          <p:cNvSpPr/>
          <p:nvPr/>
        </p:nvSpPr>
        <p:spPr>
          <a:xfrm>
            <a:off x="9802368" y="3410712"/>
            <a:ext cx="1353312" cy="1033272"/>
          </a:xfrm>
          <a:prstGeom prst="roundRect">
            <a:avLst/>
          </a:prstGeom>
          <a:solidFill>
            <a:srgbClr val="172438"/>
          </a:solidFill>
          <a:ln w="15240">
            <a:solidFill>
              <a:srgbClr val="45D483"/>
            </a:solidFill>
            <a:prstDash val="solid"/>
          </a:ln>
        </p:spPr>
      </p:sp>
      <p:sp>
        <p:nvSpPr>
          <p:cNvPr id="12" name="Text 10"/>
          <p:cNvSpPr/>
          <p:nvPr/>
        </p:nvSpPr>
        <p:spPr>
          <a:xfrm>
            <a:off x="7260336" y="1746504"/>
            <a:ext cx="1115568" cy="256032"/>
          </a:xfrm>
          <a:prstGeom prst="rect">
            <a:avLst/>
          </a:prstGeom>
          <a:noFill/>
          <a:ln/>
        </p:spPr>
        <p:txBody>
          <a:bodyPr wrap="square" lIns="0" tIns="0" rIns="0" bIns="0" rtlCol="0" anchor="ctr">
            <a:normAutofit/>
          </a:bodyPr>
          <a:lstStyle/>
          <a:p>
            <a:pPr algn="ctr" indent="0" marL="0">
              <a:buNone/>
            </a:pPr>
            <a:r>
              <a:rPr lang="en-US" sz="1700" b="1" dirty="0">
                <a:solidFill>
                  <a:srgbClr val="F4F7FB"/>
                </a:solidFill>
                <a:latin typeface="Arial" pitchFamily="34" charset="0"/>
                <a:ea typeface="Arial" pitchFamily="34" charset="-122"/>
                <a:cs typeface="Arial" pitchFamily="34" charset="-120"/>
              </a:rPr>
              <a:t>INPUT</a:t>
            </a:r>
            <a:endParaRPr lang="en-US" sz="1700" dirty="0"/>
          </a:p>
        </p:txBody>
      </p:sp>
      <p:sp>
        <p:nvSpPr>
          <p:cNvPr id="13" name="Text 11"/>
          <p:cNvSpPr/>
          <p:nvPr/>
        </p:nvSpPr>
        <p:spPr>
          <a:xfrm>
            <a:off x="8769096" y="2633472"/>
            <a:ext cx="1060704" cy="292608"/>
          </a:xfrm>
          <a:prstGeom prst="rect">
            <a:avLst/>
          </a:prstGeom>
          <a:noFill/>
          <a:ln/>
        </p:spPr>
        <p:txBody>
          <a:bodyPr wrap="square" lIns="0" tIns="0" rIns="0" bIns="0" rtlCol="0" anchor="ctr">
            <a:normAutofit/>
          </a:bodyPr>
          <a:lstStyle/>
          <a:p>
            <a:pPr algn="ctr" indent="0" marL="0">
              <a:buNone/>
            </a:pPr>
            <a:r>
              <a:rPr lang="en-US" sz="1700" b="1" dirty="0">
                <a:solidFill>
                  <a:srgbClr val="F4F7FB"/>
                </a:solidFill>
                <a:latin typeface="Arial" pitchFamily="34" charset="0"/>
                <a:ea typeface="Arial" pitchFamily="34" charset="-122"/>
                <a:cs typeface="Arial" pitchFamily="34" charset="-120"/>
              </a:rPr>
              <a:t>PARSE</a:t>
            </a:r>
            <a:endParaRPr lang="en-US" sz="1700" dirty="0"/>
          </a:p>
        </p:txBody>
      </p:sp>
      <p:sp>
        <p:nvSpPr>
          <p:cNvPr id="14" name="Text 12"/>
          <p:cNvSpPr/>
          <p:nvPr/>
        </p:nvSpPr>
        <p:spPr>
          <a:xfrm>
            <a:off x="9948672" y="3767328"/>
            <a:ext cx="1060704" cy="292608"/>
          </a:xfrm>
          <a:prstGeom prst="rect">
            <a:avLst/>
          </a:prstGeom>
          <a:noFill/>
          <a:ln/>
        </p:spPr>
        <p:txBody>
          <a:bodyPr wrap="square" lIns="0" tIns="0" rIns="0" bIns="0" rtlCol="0" anchor="ctr">
            <a:normAutofit/>
          </a:bodyPr>
          <a:lstStyle/>
          <a:p>
            <a:pPr algn="ctr" indent="0" marL="0">
              <a:buNone/>
            </a:pPr>
            <a:r>
              <a:rPr lang="en-US" sz="1600" b="1" dirty="0">
                <a:solidFill>
                  <a:srgbClr val="F4F7FB"/>
                </a:solidFill>
                <a:latin typeface="Arial" pitchFamily="34" charset="0"/>
                <a:ea typeface="Arial" pitchFamily="34" charset="-122"/>
                <a:cs typeface="Arial" pitchFamily="34" charset="-120"/>
              </a:rPr>
              <a:t>EVIDENCE</a:t>
            </a:r>
            <a:endParaRPr lang="en-US" sz="1600" dirty="0"/>
          </a:p>
        </p:txBody>
      </p:sp>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658368" y="228600"/>
            <a:ext cx="7863840" cy="201168"/>
          </a:xfrm>
          <a:prstGeom prst="rect">
            <a:avLst/>
          </a:prstGeom>
          <a:noFill/>
          <a:ln/>
        </p:spPr>
        <p:txBody>
          <a:bodyPr wrap="square" lIns="0" tIns="0" rIns="0" bIns="0" rtlCol="0" anchor="ctr">
            <a:normAutofit/>
          </a:bodyPr>
          <a:lstStyle/>
          <a:p>
            <a:pPr indent="0" marL="0">
              <a:buNone/>
            </a:pPr>
            <a:r>
              <a:rPr lang="en-US" sz="1000" b="1" spc="100" kern="0" dirty="0">
                <a:solidFill>
                  <a:srgbClr val="58D5F8"/>
                </a:solidFill>
                <a:latin typeface="Arial" pitchFamily="34" charset="0"/>
                <a:ea typeface="Arial" pitchFamily="34" charset="-122"/>
                <a:cs typeface="Arial" pitchFamily="34" charset="-120"/>
              </a:rPr>
              <a:t>ACCELERATE WITH AI  /  THE ISSUE</a:t>
            </a:r>
            <a:endParaRPr lang="en-US" sz="1000" dirty="0"/>
          </a:p>
        </p:txBody>
      </p:sp>
      <p:sp>
        <p:nvSpPr>
          <p:cNvPr id="3" name="Text 1"/>
          <p:cNvSpPr/>
          <p:nvPr/>
        </p:nvSpPr>
        <p:spPr>
          <a:xfrm>
            <a:off x="658368" y="566928"/>
            <a:ext cx="10881360" cy="548640"/>
          </a:xfrm>
          <a:prstGeom prst="rect">
            <a:avLst/>
          </a:prstGeom>
          <a:noFill/>
          <a:ln/>
        </p:spPr>
        <p:txBody>
          <a:bodyPr wrap="none" lIns="0" tIns="0" rIns="0" bIns="0" rtlCol="0" anchor="ctr">
            <a:normAutofit/>
          </a:bodyPr>
          <a:lstStyle/>
          <a:p>
            <a:pPr indent="0" marL="0">
              <a:buNone/>
            </a:pPr>
            <a:r>
              <a:rPr lang="en-US" sz="3700" b="1" dirty="0">
                <a:solidFill>
                  <a:srgbClr val="F4F7FB"/>
                </a:solidFill>
                <a:latin typeface="Arial" pitchFamily="34" charset="0"/>
                <a:ea typeface="Arial" pitchFamily="34" charset="-122"/>
                <a:cs typeface="Arial" pitchFamily="34" charset="-120"/>
              </a:rPr>
              <a:t>Four manual steps repeat for every document</a:t>
            </a:r>
            <a:endParaRPr lang="en-US" sz="3700" dirty="0"/>
          </a:p>
        </p:txBody>
      </p:sp>
      <p:sp>
        <p:nvSpPr>
          <p:cNvPr id="4" name="Text 2"/>
          <p:cNvSpPr/>
          <p:nvPr/>
        </p:nvSpPr>
        <p:spPr>
          <a:xfrm>
            <a:off x="658368" y="6492240"/>
            <a:ext cx="4937760" cy="146304"/>
          </a:xfrm>
          <a:prstGeom prst="rect">
            <a:avLst/>
          </a:prstGeom>
          <a:noFill/>
          <a:ln/>
        </p:spPr>
        <p:txBody>
          <a:bodyPr wrap="square" lIns="0" tIns="0" rIns="0" bIns="0" rtlCol="0" anchor="ctr">
            <a:normAutofit/>
          </a:bodyPr>
          <a:lstStyle/>
          <a:p>
            <a:pPr indent="0" marL="0">
              <a:buNone/>
            </a:pPr>
            <a:r>
              <a:rPr lang="en-US" sz="850" dirty="0">
                <a:solidFill>
                  <a:srgbClr val="66788D"/>
                </a:solidFill>
                <a:latin typeface="Arial" pitchFamily="34" charset="0"/>
                <a:ea typeface="Arial" pitchFamily="34" charset="-122"/>
                <a:cs typeface="Arial" pitchFamily="34" charset="-120"/>
              </a:rPr>
              <a:t>Grounded DocParse  |  Ahmad Mujtaba</a:t>
            </a:r>
            <a:endParaRPr lang="en-US" sz="850" dirty="0"/>
          </a:p>
        </p:txBody>
      </p:sp>
      <p:sp>
        <p:nvSpPr>
          <p:cNvPr id="5" name="Shape 3"/>
          <p:cNvSpPr/>
          <p:nvPr/>
        </p:nvSpPr>
        <p:spPr>
          <a:xfrm>
            <a:off x="2148840" y="2926080"/>
            <a:ext cx="1188720" cy="0"/>
          </a:xfrm>
          <a:prstGeom prst="line">
            <a:avLst/>
          </a:prstGeom>
          <a:noFill/>
          <a:ln w="22860">
            <a:solidFill>
              <a:srgbClr val="66788D"/>
            </a:solidFill>
            <a:prstDash val="solid"/>
            <a:tailEnd type="triangle"/>
          </a:ln>
        </p:spPr>
      </p:sp>
      <p:sp>
        <p:nvSpPr>
          <p:cNvPr id="6" name="Shape 4"/>
          <p:cNvSpPr/>
          <p:nvPr/>
        </p:nvSpPr>
        <p:spPr>
          <a:xfrm>
            <a:off x="4983480" y="2926080"/>
            <a:ext cx="1188720" cy="0"/>
          </a:xfrm>
          <a:prstGeom prst="line">
            <a:avLst/>
          </a:prstGeom>
          <a:noFill/>
          <a:ln w="22860">
            <a:solidFill>
              <a:srgbClr val="66788D"/>
            </a:solidFill>
            <a:prstDash val="solid"/>
            <a:tailEnd type="triangle"/>
          </a:ln>
        </p:spPr>
      </p:sp>
      <p:sp>
        <p:nvSpPr>
          <p:cNvPr id="7" name="Shape 5"/>
          <p:cNvSpPr/>
          <p:nvPr/>
        </p:nvSpPr>
        <p:spPr>
          <a:xfrm>
            <a:off x="7818120" y="2926080"/>
            <a:ext cx="1188720" cy="0"/>
          </a:xfrm>
          <a:prstGeom prst="line">
            <a:avLst/>
          </a:prstGeom>
          <a:noFill/>
          <a:ln w="22860">
            <a:solidFill>
              <a:srgbClr val="66788D"/>
            </a:solidFill>
            <a:prstDash val="solid"/>
            <a:tailEnd type="triangle"/>
          </a:ln>
        </p:spPr>
      </p:sp>
      <p:sp>
        <p:nvSpPr>
          <p:cNvPr id="8" name="Shape 6"/>
          <p:cNvSpPr/>
          <p:nvPr/>
        </p:nvSpPr>
        <p:spPr>
          <a:xfrm>
            <a:off x="960120" y="2267712"/>
            <a:ext cx="1143000" cy="1143000"/>
          </a:xfrm>
          <a:prstGeom prst="ellipse">
            <a:avLst/>
          </a:prstGeom>
          <a:solidFill>
            <a:srgbClr val="58D5F8"/>
          </a:solidFill>
          <a:ln w="12700">
            <a:solidFill>
              <a:srgbClr val="58D5F8"/>
            </a:solidFill>
            <a:prstDash val="solid"/>
          </a:ln>
        </p:spPr>
      </p:sp>
      <p:sp>
        <p:nvSpPr>
          <p:cNvPr id="9" name="Text 7"/>
          <p:cNvSpPr/>
          <p:nvPr/>
        </p:nvSpPr>
        <p:spPr>
          <a:xfrm>
            <a:off x="960120" y="2267712"/>
            <a:ext cx="1143000" cy="1143000"/>
          </a:xfrm>
          <a:prstGeom prst="rect">
            <a:avLst/>
          </a:prstGeom>
          <a:noFill/>
          <a:ln/>
        </p:spPr>
        <p:txBody>
          <a:bodyPr wrap="square" lIns="0" tIns="0" rIns="0" bIns="0" rtlCol="0" anchor="ctr">
            <a:normAutofit/>
          </a:bodyPr>
          <a:lstStyle/>
          <a:p>
            <a:pPr algn="ctr" indent="0" marL="0">
              <a:buNone/>
            </a:pPr>
            <a:r>
              <a:rPr lang="en-US" sz="3100" b="1" dirty="0">
                <a:solidFill>
                  <a:srgbClr val="0B1118"/>
                </a:solidFill>
                <a:latin typeface="Arial" pitchFamily="34" charset="0"/>
                <a:ea typeface="Arial" pitchFamily="34" charset="-122"/>
                <a:cs typeface="Arial" pitchFamily="34" charset="-120"/>
              </a:rPr>
              <a:t>1</a:t>
            </a:r>
            <a:endParaRPr lang="en-US" sz="3100" dirty="0"/>
          </a:p>
        </p:txBody>
      </p:sp>
      <p:sp>
        <p:nvSpPr>
          <p:cNvPr id="10" name="Text 8"/>
          <p:cNvSpPr/>
          <p:nvPr/>
        </p:nvSpPr>
        <p:spPr>
          <a:xfrm>
            <a:off x="795528" y="3703320"/>
            <a:ext cx="1481328" cy="310896"/>
          </a:xfrm>
          <a:prstGeom prst="rect">
            <a:avLst/>
          </a:prstGeom>
          <a:noFill/>
          <a:ln/>
        </p:spPr>
        <p:txBody>
          <a:bodyPr wrap="square" lIns="0" tIns="0" rIns="0" bIns="0" rtlCol="0" anchor="ctr">
            <a:normAutofit/>
          </a:bodyPr>
          <a:lstStyle/>
          <a:p>
            <a:pPr algn="ctr" indent="0" marL="0">
              <a:buNone/>
            </a:pPr>
            <a:r>
              <a:rPr lang="en-US" sz="2300" b="1" spc="80" kern="0" dirty="0">
                <a:solidFill>
                  <a:srgbClr val="58D5F8"/>
                </a:solidFill>
                <a:latin typeface="Arial" pitchFamily="34" charset="0"/>
                <a:ea typeface="Arial" pitchFamily="34" charset="-122"/>
                <a:cs typeface="Arial" pitchFamily="34" charset="-120"/>
              </a:rPr>
              <a:t>READ</a:t>
            </a:r>
            <a:endParaRPr lang="en-US" sz="2300" dirty="0"/>
          </a:p>
        </p:txBody>
      </p:sp>
      <p:sp>
        <p:nvSpPr>
          <p:cNvPr id="11" name="Text 9"/>
          <p:cNvSpPr/>
          <p:nvPr/>
        </p:nvSpPr>
        <p:spPr>
          <a:xfrm>
            <a:off x="530352" y="4187952"/>
            <a:ext cx="2029968" cy="566928"/>
          </a:xfrm>
          <a:prstGeom prst="rect">
            <a:avLst/>
          </a:prstGeom>
          <a:noFill/>
          <a:ln/>
        </p:spPr>
        <p:txBody>
          <a:bodyPr wrap="square" lIns="0" tIns="0" rIns="0" bIns="0" rtlCol="0" anchor="t">
            <a:normAutofit/>
          </a:bodyPr>
          <a:lstStyle/>
          <a:p>
            <a:pPr algn="ctr" indent="0" marL="0">
              <a:buNone/>
            </a:pPr>
            <a:r>
              <a:rPr lang="en-US" sz="1600" dirty="0">
                <a:solidFill>
                  <a:srgbClr val="9AAABD"/>
                </a:solidFill>
                <a:latin typeface="Arial" pitchFamily="34" charset="0"/>
                <a:ea typeface="Arial" pitchFamily="34" charset="-122"/>
                <a:cs typeface="Arial" pitchFamily="34" charset="-120"/>
              </a:rPr>
              <a:t>Find the relevant content</a:t>
            </a:r>
            <a:endParaRPr lang="en-US" sz="1600" dirty="0"/>
          </a:p>
        </p:txBody>
      </p:sp>
      <p:sp>
        <p:nvSpPr>
          <p:cNvPr id="12" name="Shape 10"/>
          <p:cNvSpPr/>
          <p:nvPr/>
        </p:nvSpPr>
        <p:spPr>
          <a:xfrm>
            <a:off x="3794760" y="2267712"/>
            <a:ext cx="1143000" cy="1143000"/>
          </a:xfrm>
          <a:prstGeom prst="ellipse">
            <a:avLst/>
          </a:prstGeom>
          <a:solidFill>
            <a:srgbClr val="796FFF"/>
          </a:solidFill>
          <a:ln w="12700">
            <a:solidFill>
              <a:srgbClr val="796FFF"/>
            </a:solidFill>
            <a:prstDash val="solid"/>
          </a:ln>
        </p:spPr>
      </p:sp>
      <p:sp>
        <p:nvSpPr>
          <p:cNvPr id="13" name="Text 11"/>
          <p:cNvSpPr/>
          <p:nvPr/>
        </p:nvSpPr>
        <p:spPr>
          <a:xfrm>
            <a:off x="3794760" y="2267712"/>
            <a:ext cx="1143000" cy="1143000"/>
          </a:xfrm>
          <a:prstGeom prst="rect">
            <a:avLst/>
          </a:prstGeom>
          <a:noFill/>
          <a:ln/>
        </p:spPr>
        <p:txBody>
          <a:bodyPr wrap="square" lIns="0" tIns="0" rIns="0" bIns="0" rtlCol="0" anchor="ctr">
            <a:normAutofit/>
          </a:bodyPr>
          <a:lstStyle/>
          <a:p>
            <a:pPr algn="ctr" indent="0" marL="0">
              <a:buNone/>
            </a:pPr>
            <a:r>
              <a:rPr lang="en-US" sz="3100" b="1" dirty="0">
                <a:solidFill>
                  <a:srgbClr val="0B1118"/>
                </a:solidFill>
                <a:latin typeface="Arial" pitchFamily="34" charset="0"/>
                <a:ea typeface="Arial" pitchFamily="34" charset="-122"/>
                <a:cs typeface="Arial" pitchFamily="34" charset="-120"/>
              </a:rPr>
              <a:t>2</a:t>
            </a:r>
            <a:endParaRPr lang="en-US" sz="3100" dirty="0"/>
          </a:p>
        </p:txBody>
      </p:sp>
      <p:sp>
        <p:nvSpPr>
          <p:cNvPr id="14" name="Text 12"/>
          <p:cNvSpPr/>
          <p:nvPr/>
        </p:nvSpPr>
        <p:spPr>
          <a:xfrm>
            <a:off x="3630168" y="3703320"/>
            <a:ext cx="1481328" cy="310896"/>
          </a:xfrm>
          <a:prstGeom prst="rect">
            <a:avLst/>
          </a:prstGeom>
          <a:noFill/>
          <a:ln/>
        </p:spPr>
        <p:txBody>
          <a:bodyPr wrap="square" lIns="0" tIns="0" rIns="0" bIns="0" rtlCol="0" anchor="ctr">
            <a:normAutofit/>
          </a:bodyPr>
          <a:lstStyle/>
          <a:p>
            <a:pPr algn="ctr" indent="0" marL="0">
              <a:buNone/>
            </a:pPr>
            <a:r>
              <a:rPr lang="en-US" sz="2300" b="1" spc="80" kern="0" dirty="0">
                <a:solidFill>
                  <a:srgbClr val="796FFF"/>
                </a:solidFill>
                <a:latin typeface="Arial" pitchFamily="34" charset="0"/>
                <a:ea typeface="Arial" pitchFamily="34" charset="-122"/>
                <a:cs typeface="Arial" pitchFamily="34" charset="-120"/>
              </a:rPr>
              <a:t>SORT</a:t>
            </a:r>
            <a:endParaRPr lang="en-US" sz="2300" dirty="0"/>
          </a:p>
        </p:txBody>
      </p:sp>
      <p:sp>
        <p:nvSpPr>
          <p:cNvPr id="15" name="Text 13"/>
          <p:cNvSpPr/>
          <p:nvPr/>
        </p:nvSpPr>
        <p:spPr>
          <a:xfrm>
            <a:off x="3364992" y="4187952"/>
            <a:ext cx="2029968" cy="566928"/>
          </a:xfrm>
          <a:prstGeom prst="rect">
            <a:avLst/>
          </a:prstGeom>
          <a:noFill/>
          <a:ln/>
        </p:spPr>
        <p:txBody>
          <a:bodyPr wrap="square" lIns="0" tIns="0" rIns="0" bIns="0" rtlCol="0" anchor="t">
            <a:normAutofit/>
          </a:bodyPr>
          <a:lstStyle/>
          <a:p>
            <a:pPr algn="ctr" indent="0" marL="0">
              <a:buNone/>
            </a:pPr>
            <a:r>
              <a:rPr lang="en-US" sz="1600" dirty="0">
                <a:solidFill>
                  <a:srgbClr val="9AAABD"/>
                </a:solidFill>
                <a:latin typeface="Arial" pitchFamily="34" charset="0"/>
                <a:ea typeface="Arial" pitchFamily="34" charset="-122"/>
                <a:cs typeface="Arial" pitchFamily="34" charset="-120"/>
              </a:rPr>
              <a:t>Identify the document type</a:t>
            </a:r>
            <a:endParaRPr lang="en-US" sz="1600" dirty="0"/>
          </a:p>
        </p:txBody>
      </p:sp>
      <p:sp>
        <p:nvSpPr>
          <p:cNvPr id="16" name="Shape 14"/>
          <p:cNvSpPr/>
          <p:nvPr/>
        </p:nvSpPr>
        <p:spPr>
          <a:xfrm>
            <a:off x="6629400" y="2267712"/>
            <a:ext cx="1143000" cy="1143000"/>
          </a:xfrm>
          <a:prstGeom prst="ellipse">
            <a:avLst/>
          </a:prstGeom>
          <a:solidFill>
            <a:srgbClr val="45D483"/>
          </a:solidFill>
          <a:ln w="12700">
            <a:solidFill>
              <a:srgbClr val="45D483"/>
            </a:solidFill>
            <a:prstDash val="solid"/>
          </a:ln>
        </p:spPr>
      </p:sp>
      <p:sp>
        <p:nvSpPr>
          <p:cNvPr id="17" name="Text 15"/>
          <p:cNvSpPr/>
          <p:nvPr/>
        </p:nvSpPr>
        <p:spPr>
          <a:xfrm>
            <a:off x="6629400" y="2267712"/>
            <a:ext cx="1143000" cy="1143000"/>
          </a:xfrm>
          <a:prstGeom prst="rect">
            <a:avLst/>
          </a:prstGeom>
          <a:noFill/>
          <a:ln/>
        </p:spPr>
        <p:txBody>
          <a:bodyPr wrap="square" lIns="0" tIns="0" rIns="0" bIns="0" rtlCol="0" anchor="ctr">
            <a:normAutofit/>
          </a:bodyPr>
          <a:lstStyle/>
          <a:p>
            <a:pPr algn="ctr" indent="0" marL="0">
              <a:buNone/>
            </a:pPr>
            <a:r>
              <a:rPr lang="en-US" sz="3100" b="1" dirty="0">
                <a:solidFill>
                  <a:srgbClr val="0B1118"/>
                </a:solidFill>
                <a:latin typeface="Arial" pitchFamily="34" charset="0"/>
                <a:ea typeface="Arial" pitchFamily="34" charset="-122"/>
                <a:cs typeface="Arial" pitchFamily="34" charset="-120"/>
              </a:rPr>
              <a:t>3</a:t>
            </a:r>
            <a:endParaRPr lang="en-US" sz="3100" dirty="0"/>
          </a:p>
        </p:txBody>
      </p:sp>
      <p:sp>
        <p:nvSpPr>
          <p:cNvPr id="18" name="Text 16"/>
          <p:cNvSpPr/>
          <p:nvPr/>
        </p:nvSpPr>
        <p:spPr>
          <a:xfrm>
            <a:off x="6464808" y="3703320"/>
            <a:ext cx="1481328" cy="310896"/>
          </a:xfrm>
          <a:prstGeom prst="rect">
            <a:avLst/>
          </a:prstGeom>
          <a:noFill/>
          <a:ln/>
        </p:spPr>
        <p:txBody>
          <a:bodyPr wrap="square" lIns="0" tIns="0" rIns="0" bIns="0" rtlCol="0" anchor="ctr">
            <a:normAutofit/>
          </a:bodyPr>
          <a:lstStyle/>
          <a:p>
            <a:pPr algn="ctr" indent="0" marL="0">
              <a:buNone/>
            </a:pPr>
            <a:r>
              <a:rPr lang="en-US" sz="2300" b="1" spc="80" kern="0" dirty="0">
                <a:solidFill>
                  <a:srgbClr val="45D483"/>
                </a:solidFill>
                <a:latin typeface="Arial" pitchFamily="34" charset="0"/>
                <a:ea typeface="Arial" pitchFamily="34" charset="-122"/>
                <a:cs typeface="Arial" pitchFamily="34" charset="-120"/>
              </a:rPr>
              <a:t>RE-KEY</a:t>
            </a:r>
            <a:endParaRPr lang="en-US" sz="2300" dirty="0"/>
          </a:p>
        </p:txBody>
      </p:sp>
      <p:sp>
        <p:nvSpPr>
          <p:cNvPr id="19" name="Text 17"/>
          <p:cNvSpPr/>
          <p:nvPr/>
        </p:nvSpPr>
        <p:spPr>
          <a:xfrm>
            <a:off x="6199632" y="4187952"/>
            <a:ext cx="2029968" cy="566928"/>
          </a:xfrm>
          <a:prstGeom prst="rect">
            <a:avLst/>
          </a:prstGeom>
          <a:noFill/>
          <a:ln/>
        </p:spPr>
        <p:txBody>
          <a:bodyPr wrap="square" lIns="0" tIns="0" rIns="0" bIns="0" rtlCol="0" anchor="t">
            <a:normAutofit/>
          </a:bodyPr>
          <a:lstStyle/>
          <a:p>
            <a:pPr algn="ctr" indent="0" marL="0">
              <a:buNone/>
            </a:pPr>
            <a:r>
              <a:rPr lang="en-US" sz="1600" dirty="0">
                <a:solidFill>
                  <a:srgbClr val="9AAABD"/>
                </a:solidFill>
                <a:latin typeface="Arial" pitchFamily="34" charset="0"/>
                <a:ea typeface="Arial" pitchFamily="34" charset="-122"/>
                <a:cs typeface="Arial" pitchFamily="34" charset="-120"/>
              </a:rPr>
              <a:t>Copy the required values</a:t>
            </a:r>
            <a:endParaRPr lang="en-US" sz="1600" dirty="0"/>
          </a:p>
        </p:txBody>
      </p:sp>
      <p:sp>
        <p:nvSpPr>
          <p:cNvPr id="20" name="Shape 18"/>
          <p:cNvSpPr/>
          <p:nvPr/>
        </p:nvSpPr>
        <p:spPr>
          <a:xfrm>
            <a:off x="9464040" y="2267712"/>
            <a:ext cx="1143000" cy="1143000"/>
          </a:xfrm>
          <a:prstGeom prst="ellipse">
            <a:avLst/>
          </a:prstGeom>
          <a:solidFill>
            <a:srgbClr val="F7B955"/>
          </a:solidFill>
          <a:ln w="12700">
            <a:solidFill>
              <a:srgbClr val="F7B955"/>
            </a:solidFill>
            <a:prstDash val="solid"/>
          </a:ln>
        </p:spPr>
      </p:sp>
      <p:sp>
        <p:nvSpPr>
          <p:cNvPr id="21" name="Text 19"/>
          <p:cNvSpPr/>
          <p:nvPr/>
        </p:nvSpPr>
        <p:spPr>
          <a:xfrm>
            <a:off x="9464040" y="2267712"/>
            <a:ext cx="1143000" cy="1143000"/>
          </a:xfrm>
          <a:prstGeom prst="rect">
            <a:avLst/>
          </a:prstGeom>
          <a:noFill/>
          <a:ln/>
        </p:spPr>
        <p:txBody>
          <a:bodyPr wrap="square" lIns="0" tIns="0" rIns="0" bIns="0" rtlCol="0" anchor="ctr">
            <a:normAutofit/>
          </a:bodyPr>
          <a:lstStyle/>
          <a:p>
            <a:pPr algn="ctr" indent="0" marL="0">
              <a:buNone/>
            </a:pPr>
            <a:r>
              <a:rPr lang="en-US" sz="3100" b="1" dirty="0">
                <a:solidFill>
                  <a:srgbClr val="0B1118"/>
                </a:solidFill>
                <a:latin typeface="Arial" pitchFamily="34" charset="0"/>
                <a:ea typeface="Arial" pitchFamily="34" charset="-122"/>
                <a:cs typeface="Arial" pitchFamily="34" charset="-120"/>
              </a:rPr>
              <a:t>4</a:t>
            </a:r>
            <a:endParaRPr lang="en-US" sz="3100" dirty="0"/>
          </a:p>
        </p:txBody>
      </p:sp>
      <p:sp>
        <p:nvSpPr>
          <p:cNvPr id="22" name="Text 20"/>
          <p:cNvSpPr/>
          <p:nvPr/>
        </p:nvSpPr>
        <p:spPr>
          <a:xfrm>
            <a:off x="9299448" y="3703320"/>
            <a:ext cx="1481328" cy="310896"/>
          </a:xfrm>
          <a:prstGeom prst="rect">
            <a:avLst/>
          </a:prstGeom>
          <a:noFill/>
          <a:ln/>
        </p:spPr>
        <p:txBody>
          <a:bodyPr wrap="square" lIns="0" tIns="0" rIns="0" bIns="0" rtlCol="0" anchor="ctr">
            <a:normAutofit/>
          </a:bodyPr>
          <a:lstStyle/>
          <a:p>
            <a:pPr algn="ctr" indent="0" marL="0">
              <a:buNone/>
            </a:pPr>
            <a:r>
              <a:rPr lang="en-US" sz="2300" b="1" spc="80" kern="0" dirty="0">
                <a:solidFill>
                  <a:srgbClr val="F7B955"/>
                </a:solidFill>
                <a:latin typeface="Arial" pitchFamily="34" charset="0"/>
                <a:ea typeface="Arial" pitchFamily="34" charset="-122"/>
                <a:cs typeface="Arial" pitchFamily="34" charset="-120"/>
              </a:rPr>
              <a:t>VERIFY</a:t>
            </a:r>
            <a:endParaRPr lang="en-US" sz="2300" dirty="0"/>
          </a:p>
        </p:txBody>
      </p:sp>
      <p:sp>
        <p:nvSpPr>
          <p:cNvPr id="23" name="Text 21"/>
          <p:cNvSpPr/>
          <p:nvPr/>
        </p:nvSpPr>
        <p:spPr>
          <a:xfrm>
            <a:off x="9034272" y="4187952"/>
            <a:ext cx="2029968" cy="566928"/>
          </a:xfrm>
          <a:prstGeom prst="rect">
            <a:avLst/>
          </a:prstGeom>
          <a:noFill/>
          <a:ln/>
        </p:spPr>
        <p:txBody>
          <a:bodyPr wrap="square" lIns="0" tIns="0" rIns="0" bIns="0" rtlCol="0" anchor="t">
            <a:normAutofit/>
          </a:bodyPr>
          <a:lstStyle/>
          <a:p>
            <a:pPr algn="ctr" indent="0" marL="0">
              <a:buNone/>
            </a:pPr>
            <a:r>
              <a:rPr lang="en-US" sz="1600" dirty="0">
                <a:solidFill>
                  <a:srgbClr val="9AAABD"/>
                </a:solidFill>
                <a:latin typeface="Arial" pitchFamily="34" charset="0"/>
                <a:ea typeface="Arial" pitchFamily="34" charset="-122"/>
                <a:cs typeface="Arial" pitchFamily="34" charset="-120"/>
              </a:rPr>
              <a:t>Return to the source</a:t>
            </a:r>
            <a:endParaRPr lang="en-US" sz="1600" dirty="0"/>
          </a:p>
        </p:txBody>
      </p:sp>
      <p:sp>
        <p:nvSpPr>
          <p:cNvPr id="24" name="Text 22"/>
          <p:cNvSpPr/>
          <p:nvPr/>
        </p:nvSpPr>
        <p:spPr>
          <a:xfrm>
            <a:off x="1005840" y="5596128"/>
            <a:ext cx="10195560" cy="402336"/>
          </a:xfrm>
          <a:prstGeom prst="rect">
            <a:avLst/>
          </a:prstGeom>
          <a:noFill/>
          <a:ln/>
        </p:spPr>
        <p:txBody>
          <a:bodyPr wrap="square" lIns="0" tIns="0" rIns="0" bIns="0" rtlCol="0" anchor="ctr">
            <a:normAutofit/>
          </a:bodyPr>
          <a:lstStyle/>
          <a:p>
            <a:pPr algn="ctr" indent="0" marL="0">
              <a:buNone/>
            </a:pPr>
            <a:r>
              <a:rPr lang="en-US" sz="2300" b="1" dirty="0">
                <a:solidFill>
                  <a:srgbClr val="F4F7FB"/>
                </a:solidFill>
                <a:latin typeface="Arial" pitchFamily="34" charset="0"/>
                <a:ea typeface="Arial" pitchFamily="34" charset="-122"/>
                <a:cs typeface="Arial" pitchFamily="34" charset="-120"/>
              </a:rPr>
              <a:t>Mixed layouts, forms, tables, and checkboxes make every handoff harder to review.</a:t>
            </a:r>
            <a:endParaRPr lang="en-US" sz="2300" dirty="0"/>
          </a:p>
        </p:txBody>
      </p:sp>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658368" y="228600"/>
            <a:ext cx="7863840" cy="201168"/>
          </a:xfrm>
          <a:prstGeom prst="rect">
            <a:avLst/>
          </a:prstGeom>
          <a:noFill/>
          <a:ln/>
        </p:spPr>
        <p:txBody>
          <a:bodyPr wrap="square" lIns="0" tIns="0" rIns="0" bIns="0" rtlCol="0" anchor="ctr">
            <a:normAutofit/>
          </a:bodyPr>
          <a:lstStyle/>
          <a:p>
            <a:pPr indent="0" marL="0">
              <a:buNone/>
            </a:pPr>
            <a:r>
              <a:rPr lang="en-US" sz="1000" b="1" spc="100" kern="0" dirty="0">
                <a:solidFill>
                  <a:srgbClr val="58D5F8"/>
                </a:solidFill>
                <a:latin typeface="Arial" pitchFamily="34" charset="0"/>
                <a:ea typeface="Arial" pitchFamily="34" charset="-122"/>
                <a:cs typeface="Arial" pitchFamily="34" charset="-120"/>
              </a:rPr>
              <a:t>ACCELERATE WITH AI  /  THE SOLUTION</a:t>
            </a:r>
            <a:endParaRPr lang="en-US" sz="1000" dirty="0"/>
          </a:p>
        </p:txBody>
      </p:sp>
      <p:sp>
        <p:nvSpPr>
          <p:cNvPr id="3" name="Text 1"/>
          <p:cNvSpPr/>
          <p:nvPr/>
        </p:nvSpPr>
        <p:spPr>
          <a:xfrm>
            <a:off x="658368" y="566928"/>
            <a:ext cx="10881360" cy="548640"/>
          </a:xfrm>
          <a:prstGeom prst="rect">
            <a:avLst/>
          </a:prstGeom>
          <a:noFill/>
          <a:ln/>
        </p:spPr>
        <p:txBody>
          <a:bodyPr wrap="none" lIns="0" tIns="0" rIns="0" bIns="0" rtlCol="0" anchor="ctr">
            <a:normAutofit/>
          </a:bodyPr>
          <a:lstStyle/>
          <a:p>
            <a:pPr indent="0" marL="0">
              <a:buNone/>
            </a:pPr>
            <a:r>
              <a:rPr lang="en-US" sz="3700" b="1" dirty="0">
                <a:solidFill>
                  <a:srgbClr val="F4F7FB"/>
                </a:solidFill>
                <a:latin typeface="Arial" pitchFamily="34" charset="0"/>
                <a:ea typeface="Arial" pitchFamily="34" charset="-122"/>
                <a:cs typeface="Arial" pitchFamily="34" charset="-120"/>
              </a:rPr>
              <a:t>Parse once, then reuse grounded evidence</a:t>
            </a:r>
            <a:endParaRPr lang="en-US" sz="3700" dirty="0"/>
          </a:p>
        </p:txBody>
      </p:sp>
      <p:sp>
        <p:nvSpPr>
          <p:cNvPr id="4" name="Text 2"/>
          <p:cNvSpPr/>
          <p:nvPr/>
        </p:nvSpPr>
        <p:spPr>
          <a:xfrm>
            <a:off x="658368" y="6492240"/>
            <a:ext cx="4937760" cy="146304"/>
          </a:xfrm>
          <a:prstGeom prst="rect">
            <a:avLst/>
          </a:prstGeom>
          <a:noFill/>
          <a:ln/>
        </p:spPr>
        <p:txBody>
          <a:bodyPr wrap="square" lIns="0" tIns="0" rIns="0" bIns="0" rtlCol="0" anchor="ctr">
            <a:normAutofit/>
          </a:bodyPr>
          <a:lstStyle/>
          <a:p>
            <a:pPr indent="0" marL="0">
              <a:buNone/>
            </a:pPr>
            <a:r>
              <a:rPr lang="en-US" sz="850" dirty="0">
                <a:solidFill>
                  <a:srgbClr val="66788D"/>
                </a:solidFill>
                <a:latin typeface="Arial" pitchFamily="34" charset="0"/>
                <a:ea typeface="Arial" pitchFamily="34" charset="-122"/>
                <a:cs typeface="Arial" pitchFamily="34" charset="-120"/>
              </a:rPr>
              <a:t>Grounded DocParse  |  Ahmad Mujtaba</a:t>
            </a:r>
            <a:endParaRPr lang="en-US" sz="850" dirty="0"/>
          </a:p>
        </p:txBody>
      </p:sp>
      <p:sp>
        <p:nvSpPr>
          <p:cNvPr id="5" name="Shape 3"/>
          <p:cNvSpPr/>
          <p:nvPr/>
        </p:nvSpPr>
        <p:spPr>
          <a:xfrm>
            <a:off x="2651760" y="3255264"/>
            <a:ext cx="1078992" cy="0"/>
          </a:xfrm>
          <a:prstGeom prst="line">
            <a:avLst/>
          </a:prstGeom>
          <a:noFill/>
          <a:ln w="25400">
            <a:solidFill>
              <a:srgbClr val="58D5F8"/>
            </a:solidFill>
            <a:prstDash val="solid"/>
            <a:tailEnd type="triangle"/>
          </a:ln>
        </p:spPr>
      </p:sp>
      <p:sp>
        <p:nvSpPr>
          <p:cNvPr id="6" name="Shape 4"/>
          <p:cNvSpPr/>
          <p:nvPr/>
        </p:nvSpPr>
        <p:spPr>
          <a:xfrm flipV="1">
            <a:off x="5788152" y="1828800"/>
            <a:ext cx="1024128" cy="1426464"/>
          </a:xfrm>
          <a:prstGeom prst="line">
            <a:avLst/>
          </a:prstGeom>
          <a:noFill/>
          <a:ln w="20320">
            <a:solidFill>
              <a:srgbClr val="796FFF"/>
            </a:solidFill>
            <a:prstDash val="solid"/>
            <a:tailEnd type="triangle"/>
          </a:ln>
        </p:spPr>
      </p:sp>
      <p:sp>
        <p:nvSpPr>
          <p:cNvPr id="7" name="Shape 5"/>
          <p:cNvSpPr/>
          <p:nvPr/>
        </p:nvSpPr>
        <p:spPr>
          <a:xfrm flipV="1">
            <a:off x="5788152" y="2779776"/>
            <a:ext cx="1024128" cy="475488"/>
          </a:xfrm>
          <a:prstGeom prst="line">
            <a:avLst/>
          </a:prstGeom>
          <a:noFill/>
          <a:ln w="20320">
            <a:solidFill>
              <a:srgbClr val="58D5F8"/>
            </a:solidFill>
            <a:prstDash val="solid"/>
            <a:tailEnd type="triangle"/>
          </a:ln>
        </p:spPr>
      </p:sp>
      <p:sp>
        <p:nvSpPr>
          <p:cNvPr id="8" name="Shape 6"/>
          <p:cNvSpPr/>
          <p:nvPr/>
        </p:nvSpPr>
        <p:spPr>
          <a:xfrm>
            <a:off x="5788152" y="3255264"/>
            <a:ext cx="1024128" cy="475488"/>
          </a:xfrm>
          <a:prstGeom prst="line">
            <a:avLst/>
          </a:prstGeom>
          <a:noFill/>
          <a:ln w="20320">
            <a:solidFill>
              <a:srgbClr val="45D483"/>
            </a:solidFill>
            <a:prstDash val="solid"/>
            <a:tailEnd type="triangle"/>
          </a:ln>
        </p:spPr>
      </p:sp>
      <p:sp>
        <p:nvSpPr>
          <p:cNvPr id="9" name="Shape 7"/>
          <p:cNvSpPr/>
          <p:nvPr/>
        </p:nvSpPr>
        <p:spPr>
          <a:xfrm>
            <a:off x="5788152" y="3255264"/>
            <a:ext cx="1024128" cy="1426464"/>
          </a:xfrm>
          <a:prstGeom prst="line">
            <a:avLst/>
          </a:prstGeom>
          <a:noFill/>
          <a:ln w="20320">
            <a:solidFill>
              <a:srgbClr val="F7B955"/>
            </a:solidFill>
            <a:prstDash val="solid"/>
            <a:tailEnd type="triangle"/>
          </a:ln>
        </p:spPr>
      </p:sp>
      <p:sp>
        <p:nvSpPr>
          <p:cNvPr id="10" name="Shape 8"/>
          <p:cNvSpPr/>
          <p:nvPr/>
        </p:nvSpPr>
        <p:spPr>
          <a:xfrm>
            <a:off x="749808" y="2240280"/>
            <a:ext cx="1901952" cy="2039112"/>
          </a:xfrm>
          <a:prstGeom prst="roundRect">
            <a:avLst/>
          </a:prstGeom>
          <a:solidFill>
            <a:srgbClr val="111B29"/>
          </a:solidFill>
          <a:ln w="15240">
            <a:solidFill>
              <a:srgbClr val="2A3B50"/>
            </a:solidFill>
            <a:prstDash val="solid"/>
          </a:ln>
        </p:spPr>
      </p:sp>
      <p:sp>
        <p:nvSpPr>
          <p:cNvPr id="11" name="Text 9"/>
          <p:cNvSpPr/>
          <p:nvPr/>
        </p:nvSpPr>
        <p:spPr>
          <a:xfrm>
            <a:off x="1051560" y="2788920"/>
            <a:ext cx="1298448" cy="402336"/>
          </a:xfrm>
          <a:prstGeom prst="rect">
            <a:avLst/>
          </a:prstGeom>
          <a:noFill/>
          <a:ln/>
        </p:spPr>
        <p:txBody>
          <a:bodyPr wrap="square" lIns="0" tIns="0" rIns="0" bIns="0" rtlCol="0" anchor="ctr">
            <a:normAutofit/>
          </a:bodyPr>
          <a:lstStyle/>
          <a:p>
            <a:pPr algn="ctr" indent="0" marL="0">
              <a:buNone/>
            </a:pPr>
            <a:r>
              <a:rPr lang="en-US" sz="2700" b="1" dirty="0">
                <a:solidFill>
                  <a:srgbClr val="F4F7FB"/>
                </a:solidFill>
                <a:latin typeface="Arial" pitchFamily="34" charset="0"/>
                <a:ea typeface="Arial" pitchFamily="34" charset="-122"/>
                <a:cs typeface="Arial" pitchFamily="34" charset="-120"/>
              </a:rPr>
              <a:t>INPUTS</a:t>
            </a:r>
            <a:endParaRPr lang="en-US" sz="2700" dirty="0"/>
          </a:p>
        </p:txBody>
      </p:sp>
      <p:sp>
        <p:nvSpPr>
          <p:cNvPr id="12" name="Text 10"/>
          <p:cNvSpPr/>
          <p:nvPr/>
        </p:nvSpPr>
        <p:spPr>
          <a:xfrm>
            <a:off x="950976" y="3401568"/>
            <a:ext cx="1481328" cy="475488"/>
          </a:xfrm>
          <a:prstGeom prst="rect">
            <a:avLst/>
          </a:prstGeom>
          <a:noFill/>
          <a:ln/>
        </p:spPr>
        <p:txBody>
          <a:bodyPr wrap="square" lIns="0" tIns="0" rIns="0" bIns="0" rtlCol="0" anchor="ctr">
            <a:normAutofit/>
          </a:bodyPr>
          <a:lstStyle/>
          <a:p>
            <a:pPr algn="ctr" indent="0" marL="0">
              <a:buNone/>
            </a:pPr>
            <a:r>
              <a:rPr lang="en-US" sz="1400" dirty="0">
                <a:solidFill>
                  <a:srgbClr val="9AAABD"/>
                </a:solidFill>
                <a:latin typeface="Arial" pitchFamily="34" charset="0"/>
                <a:ea typeface="Arial" pitchFamily="34" charset="-122"/>
                <a:cs typeface="Arial" pitchFamily="34" charset="-120"/>
              </a:rPr>
              <a:t>PDFs  •  images</a:t>
            </a:r>
            <a:endParaRPr lang="en-US" sz="1400" dirty="0"/>
          </a:p>
          <a:p>
            <a:pPr algn="ctr" indent="0" marL="0">
              <a:buNone/>
            </a:pPr>
            <a:r>
              <a:rPr lang="en-US" sz="1400" dirty="0">
                <a:solidFill>
                  <a:srgbClr val="9AAABD"/>
                </a:solidFill>
                <a:latin typeface="Arial" pitchFamily="34" charset="0"/>
                <a:ea typeface="Arial" pitchFamily="34" charset="-122"/>
                <a:cs typeface="Arial" pitchFamily="34" charset="-120"/>
              </a:rPr>
              <a:t>forms  •  tables</a:t>
            </a:r>
            <a:endParaRPr lang="en-US" sz="1400" dirty="0"/>
          </a:p>
        </p:txBody>
      </p:sp>
      <p:sp>
        <p:nvSpPr>
          <p:cNvPr id="13" name="Shape 11"/>
          <p:cNvSpPr/>
          <p:nvPr/>
        </p:nvSpPr>
        <p:spPr>
          <a:xfrm>
            <a:off x="3730752" y="2011680"/>
            <a:ext cx="2057400" cy="2496312"/>
          </a:xfrm>
          <a:prstGeom prst="roundRect">
            <a:avLst/>
          </a:prstGeom>
          <a:solidFill>
            <a:srgbClr val="172438"/>
          </a:solidFill>
          <a:ln w="15240">
            <a:solidFill>
              <a:srgbClr val="58D5F8"/>
            </a:solidFill>
            <a:prstDash val="solid"/>
          </a:ln>
        </p:spPr>
      </p:sp>
      <p:sp>
        <p:nvSpPr>
          <p:cNvPr id="14" name="Text 12"/>
          <p:cNvSpPr/>
          <p:nvPr/>
        </p:nvSpPr>
        <p:spPr>
          <a:xfrm>
            <a:off x="3886200" y="2487168"/>
            <a:ext cx="1737360" cy="804672"/>
          </a:xfrm>
          <a:prstGeom prst="rect">
            <a:avLst/>
          </a:prstGeom>
          <a:noFill/>
          <a:ln/>
        </p:spPr>
        <p:txBody>
          <a:bodyPr wrap="square" lIns="0" tIns="0" rIns="0" bIns="0" rtlCol="0" anchor="ctr">
            <a:normAutofit/>
          </a:bodyPr>
          <a:lstStyle/>
          <a:p>
            <a:pPr algn="ctr" indent="0" marL="0">
              <a:buNone/>
            </a:pPr>
            <a:r>
              <a:rPr lang="en-US" sz="2600" b="1" dirty="0">
                <a:solidFill>
                  <a:srgbClr val="F4F7FB"/>
                </a:solidFill>
                <a:latin typeface="Arial" pitchFamily="34" charset="0"/>
                <a:ea typeface="Arial" pitchFamily="34" charset="-122"/>
                <a:cs typeface="Arial" pitchFamily="34" charset="-120"/>
              </a:rPr>
              <a:t>PARSE</a:t>
            </a:r>
            <a:endParaRPr lang="en-US" sz="2600" dirty="0"/>
          </a:p>
          <a:p>
            <a:pPr algn="ctr" indent="0" marL="0">
              <a:buNone/>
            </a:pPr>
            <a:r>
              <a:rPr lang="en-US" sz="2600" b="1" dirty="0">
                <a:solidFill>
                  <a:srgbClr val="F4F7FB"/>
                </a:solidFill>
                <a:latin typeface="Arial" pitchFamily="34" charset="0"/>
                <a:ea typeface="Arial" pitchFamily="34" charset="-122"/>
                <a:cs typeface="Arial" pitchFamily="34" charset="-120"/>
              </a:rPr>
              <a:t>ONCE</a:t>
            </a:r>
            <a:endParaRPr lang="en-US" sz="2600" dirty="0"/>
          </a:p>
        </p:txBody>
      </p:sp>
      <p:sp>
        <p:nvSpPr>
          <p:cNvPr id="15" name="Text 13"/>
          <p:cNvSpPr/>
          <p:nvPr/>
        </p:nvSpPr>
        <p:spPr>
          <a:xfrm>
            <a:off x="3977640" y="3547872"/>
            <a:ext cx="1554480" cy="475488"/>
          </a:xfrm>
          <a:prstGeom prst="rect">
            <a:avLst/>
          </a:prstGeom>
          <a:noFill/>
          <a:ln/>
        </p:spPr>
        <p:txBody>
          <a:bodyPr wrap="square" lIns="0" tIns="0" rIns="0" bIns="0" rtlCol="0" anchor="ctr">
            <a:normAutofit/>
          </a:bodyPr>
          <a:lstStyle/>
          <a:p>
            <a:pPr algn="ctr" indent="0" marL="0">
              <a:buNone/>
            </a:pPr>
            <a:r>
              <a:rPr lang="en-US" sz="1400" b="1" dirty="0">
                <a:solidFill>
                  <a:srgbClr val="58D5F8"/>
                </a:solidFill>
                <a:latin typeface="Arial" pitchFamily="34" charset="0"/>
                <a:ea typeface="Arial" pitchFamily="34" charset="-122"/>
                <a:cs typeface="Arial" pitchFamily="34" charset="-120"/>
              </a:rPr>
              <a:t>IDs  •  pages  •  boxes</a:t>
            </a:r>
            <a:endParaRPr lang="en-US" sz="1400" dirty="0"/>
          </a:p>
          <a:p>
            <a:pPr algn="ctr" indent="0" marL="0">
              <a:buNone/>
            </a:pPr>
            <a:r>
              <a:rPr lang="en-US" sz="1400" b="1" dirty="0">
                <a:solidFill>
                  <a:srgbClr val="58D5F8"/>
                </a:solidFill>
                <a:latin typeface="Arial" pitchFamily="34" charset="0"/>
                <a:ea typeface="Arial" pitchFamily="34" charset="-122"/>
                <a:cs typeface="Arial" pitchFamily="34" charset="-120"/>
              </a:rPr>
              <a:t>reading order</a:t>
            </a:r>
            <a:endParaRPr lang="en-US" sz="1400" dirty="0"/>
          </a:p>
        </p:txBody>
      </p:sp>
      <p:sp>
        <p:nvSpPr>
          <p:cNvPr id="16" name="Shape 14"/>
          <p:cNvSpPr/>
          <p:nvPr/>
        </p:nvSpPr>
        <p:spPr>
          <a:xfrm>
            <a:off x="6839712" y="1572768"/>
            <a:ext cx="310896" cy="310896"/>
          </a:xfrm>
          <a:prstGeom prst="ellipse">
            <a:avLst/>
          </a:prstGeom>
          <a:solidFill>
            <a:srgbClr val="796FFF"/>
          </a:solidFill>
          <a:ln w="12700">
            <a:solidFill>
              <a:srgbClr val="796FFF"/>
            </a:solidFill>
            <a:prstDash val="solid"/>
          </a:ln>
        </p:spPr>
      </p:sp>
      <p:sp>
        <p:nvSpPr>
          <p:cNvPr id="17" name="Text 15"/>
          <p:cNvSpPr/>
          <p:nvPr/>
        </p:nvSpPr>
        <p:spPr>
          <a:xfrm>
            <a:off x="7333488" y="1417320"/>
            <a:ext cx="3584448" cy="256032"/>
          </a:xfrm>
          <a:prstGeom prst="rect">
            <a:avLst/>
          </a:prstGeom>
          <a:noFill/>
          <a:ln/>
        </p:spPr>
        <p:txBody>
          <a:bodyPr wrap="square" lIns="0" tIns="0" rIns="0" bIns="0" rtlCol="0" anchor="ctr">
            <a:normAutofit/>
          </a:bodyPr>
          <a:lstStyle/>
          <a:p>
            <a:pPr indent="0" marL="0">
              <a:buNone/>
            </a:pPr>
            <a:r>
              <a:rPr lang="en-US" sz="2100" b="1" dirty="0">
                <a:solidFill>
                  <a:srgbClr val="796FFF"/>
                </a:solidFill>
                <a:latin typeface="Arial" pitchFamily="34" charset="0"/>
                <a:ea typeface="Arial" pitchFamily="34" charset="-122"/>
                <a:cs typeface="Arial" pitchFamily="34" charset="-120"/>
              </a:rPr>
              <a:t>CLASSIFY + ROUTE</a:t>
            </a:r>
            <a:endParaRPr lang="en-US" sz="2100" dirty="0"/>
          </a:p>
        </p:txBody>
      </p:sp>
      <p:sp>
        <p:nvSpPr>
          <p:cNvPr id="18" name="Text 16"/>
          <p:cNvSpPr/>
          <p:nvPr/>
        </p:nvSpPr>
        <p:spPr>
          <a:xfrm>
            <a:off x="7333488" y="1728216"/>
            <a:ext cx="3611880" cy="256032"/>
          </a:xfrm>
          <a:prstGeom prst="rect">
            <a:avLst/>
          </a:prstGeom>
          <a:noFill/>
          <a:ln/>
        </p:spPr>
        <p:txBody>
          <a:bodyPr wrap="square" lIns="0" tIns="0" rIns="0" bIns="0" rtlCol="0" anchor="ctr">
            <a:normAutofit/>
          </a:bodyPr>
          <a:lstStyle/>
          <a:p>
            <a:pPr indent="0" marL="0">
              <a:buNone/>
            </a:pPr>
            <a:r>
              <a:rPr lang="en-US" sz="1500" dirty="0">
                <a:solidFill>
                  <a:srgbClr val="9AAABD"/>
                </a:solidFill>
                <a:latin typeface="Arial" pitchFamily="34" charset="0"/>
                <a:ea typeface="Arial" pitchFamily="34" charset="-122"/>
                <a:cs typeface="Arial" pitchFamily="34" charset="-120"/>
              </a:rPr>
              <a:t>Send only eligible segments forward</a:t>
            </a:r>
            <a:endParaRPr lang="en-US" sz="1500" dirty="0"/>
          </a:p>
        </p:txBody>
      </p:sp>
      <p:sp>
        <p:nvSpPr>
          <p:cNvPr id="19" name="Shape 17"/>
          <p:cNvSpPr/>
          <p:nvPr/>
        </p:nvSpPr>
        <p:spPr>
          <a:xfrm>
            <a:off x="6839712" y="2542032"/>
            <a:ext cx="310896" cy="310896"/>
          </a:xfrm>
          <a:prstGeom prst="ellipse">
            <a:avLst/>
          </a:prstGeom>
          <a:solidFill>
            <a:srgbClr val="58D5F8"/>
          </a:solidFill>
          <a:ln w="12700">
            <a:solidFill>
              <a:srgbClr val="58D5F8"/>
            </a:solidFill>
            <a:prstDash val="solid"/>
          </a:ln>
        </p:spPr>
      </p:sp>
      <p:sp>
        <p:nvSpPr>
          <p:cNvPr id="20" name="Text 18"/>
          <p:cNvSpPr/>
          <p:nvPr/>
        </p:nvSpPr>
        <p:spPr>
          <a:xfrm>
            <a:off x="7333488" y="2386584"/>
            <a:ext cx="3584448" cy="256032"/>
          </a:xfrm>
          <a:prstGeom prst="rect">
            <a:avLst/>
          </a:prstGeom>
          <a:noFill/>
          <a:ln/>
        </p:spPr>
        <p:txBody>
          <a:bodyPr wrap="square" lIns="0" tIns="0" rIns="0" bIns="0" rtlCol="0" anchor="ctr">
            <a:normAutofit/>
          </a:bodyPr>
          <a:lstStyle/>
          <a:p>
            <a:pPr indent="0" marL="0">
              <a:buNone/>
            </a:pPr>
            <a:r>
              <a:rPr lang="en-US" sz="2100" b="1" dirty="0">
                <a:solidFill>
                  <a:srgbClr val="58D5F8"/>
                </a:solidFill>
                <a:latin typeface="Arial" pitchFamily="34" charset="0"/>
                <a:ea typeface="Arial" pitchFamily="34" charset="-122"/>
                <a:cs typeface="Arial" pitchFamily="34" charset="-120"/>
              </a:rPr>
              <a:t>EXTRACT</a:t>
            </a:r>
            <a:endParaRPr lang="en-US" sz="2100" dirty="0"/>
          </a:p>
        </p:txBody>
      </p:sp>
      <p:sp>
        <p:nvSpPr>
          <p:cNvPr id="21" name="Text 19"/>
          <p:cNvSpPr/>
          <p:nvPr/>
        </p:nvSpPr>
        <p:spPr>
          <a:xfrm>
            <a:off x="7333488" y="2697480"/>
            <a:ext cx="3611880" cy="256032"/>
          </a:xfrm>
          <a:prstGeom prst="rect">
            <a:avLst/>
          </a:prstGeom>
          <a:noFill/>
          <a:ln/>
        </p:spPr>
        <p:txBody>
          <a:bodyPr wrap="square" lIns="0" tIns="0" rIns="0" bIns="0" rtlCol="0" anchor="ctr">
            <a:normAutofit/>
          </a:bodyPr>
          <a:lstStyle/>
          <a:p>
            <a:pPr indent="0" marL="0">
              <a:buNone/>
            </a:pPr>
            <a:r>
              <a:rPr lang="en-US" sz="1500" dirty="0">
                <a:solidFill>
                  <a:srgbClr val="9AAABD"/>
                </a:solidFill>
                <a:latin typeface="Arial" pitchFamily="34" charset="0"/>
                <a:ea typeface="Arial" pitchFamily="34" charset="-122"/>
                <a:cs typeface="Arial" pitchFamily="34" charset="-120"/>
              </a:rPr>
              <a:t>Return values with source evidence</a:t>
            </a:r>
            <a:endParaRPr lang="en-US" sz="1500" dirty="0"/>
          </a:p>
        </p:txBody>
      </p:sp>
      <p:sp>
        <p:nvSpPr>
          <p:cNvPr id="22" name="Shape 20"/>
          <p:cNvSpPr/>
          <p:nvPr/>
        </p:nvSpPr>
        <p:spPr>
          <a:xfrm>
            <a:off x="6839712" y="3511296"/>
            <a:ext cx="310896" cy="310896"/>
          </a:xfrm>
          <a:prstGeom prst="ellipse">
            <a:avLst/>
          </a:prstGeom>
          <a:solidFill>
            <a:srgbClr val="45D483"/>
          </a:solidFill>
          <a:ln w="12700">
            <a:solidFill>
              <a:srgbClr val="45D483"/>
            </a:solidFill>
            <a:prstDash val="solid"/>
          </a:ln>
        </p:spPr>
      </p:sp>
      <p:sp>
        <p:nvSpPr>
          <p:cNvPr id="23" name="Text 21"/>
          <p:cNvSpPr/>
          <p:nvPr/>
        </p:nvSpPr>
        <p:spPr>
          <a:xfrm>
            <a:off x="7333488" y="3355848"/>
            <a:ext cx="3584448" cy="256032"/>
          </a:xfrm>
          <a:prstGeom prst="rect">
            <a:avLst/>
          </a:prstGeom>
          <a:noFill/>
          <a:ln/>
        </p:spPr>
        <p:txBody>
          <a:bodyPr wrap="square" lIns="0" tIns="0" rIns="0" bIns="0" rtlCol="0" anchor="ctr">
            <a:normAutofit/>
          </a:bodyPr>
          <a:lstStyle/>
          <a:p>
            <a:pPr indent="0" marL="0">
              <a:buNone/>
            </a:pPr>
            <a:r>
              <a:rPr lang="en-US" sz="2100" b="1" dirty="0">
                <a:solidFill>
                  <a:srgbClr val="45D483"/>
                </a:solidFill>
                <a:latin typeface="Arial" pitchFamily="34" charset="0"/>
                <a:ea typeface="Arial" pitchFamily="34" charset="-122"/>
                <a:cs typeface="Arial" pitchFamily="34" charset="-120"/>
              </a:rPr>
              <a:t>CHAT + REVIEW</a:t>
            </a:r>
            <a:endParaRPr lang="en-US" sz="2100" dirty="0"/>
          </a:p>
        </p:txBody>
      </p:sp>
      <p:sp>
        <p:nvSpPr>
          <p:cNvPr id="24" name="Text 22"/>
          <p:cNvSpPr/>
          <p:nvPr/>
        </p:nvSpPr>
        <p:spPr>
          <a:xfrm>
            <a:off x="7333488" y="3666744"/>
            <a:ext cx="3611880" cy="256032"/>
          </a:xfrm>
          <a:prstGeom prst="rect">
            <a:avLst/>
          </a:prstGeom>
          <a:noFill/>
          <a:ln/>
        </p:spPr>
        <p:txBody>
          <a:bodyPr wrap="square" lIns="0" tIns="0" rIns="0" bIns="0" rtlCol="0" anchor="ctr">
            <a:normAutofit/>
          </a:bodyPr>
          <a:lstStyle/>
          <a:p>
            <a:pPr indent="0" marL="0">
              <a:buNone/>
            </a:pPr>
            <a:r>
              <a:rPr lang="en-US" sz="1500" dirty="0">
                <a:solidFill>
                  <a:srgbClr val="9AAABD"/>
                </a:solidFill>
                <a:latin typeface="Arial" pitchFamily="34" charset="0"/>
                <a:ea typeface="Arial" pitchFamily="34" charset="-122"/>
                <a:cs typeface="Arial" pitchFamily="34" charset="-120"/>
              </a:rPr>
              <a:t>Answer questions with citations</a:t>
            </a:r>
            <a:endParaRPr lang="en-US" sz="1500" dirty="0"/>
          </a:p>
        </p:txBody>
      </p:sp>
      <p:sp>
        <p:nvSpPr>
          <p:cNvPr id="25" name="Shape 23"/>
          <p:cNvSpPr/>
          <p:nvPr/>
        </p:nvSpPr>
        <p:spPr>
          <a:xfrm>
            <a:off x="6839712" y="4480560"/>
            <a:ext cx="310896" cy="310896"/>
          </a:xfrm>
          <a:prstGeom prst="ellipse">
            <a:avLst/>
          </a:prstGeom>
          <a:solidFill>
            <a:srgbClr val="F7B955"/>
          </a:solidFill>
          <a:ln w="12700">
            <a:solidFill>
              <a:srgbClr val="F7B955"/>
            </a:solidFill>
            <a:prstDash val="solid"/>
          </a:ln>
        </p:spPr>
      </p:sp>
      <p:sp>
        <p:nvSpPr>
          <p:cNvPr id="26" name="Text 24"/>
          <p:cNvSpPr/>
          <p:nvPr/>
        </p:nvSpPr>
        <p:spPr>
          <a:xfrm>
            <a:off x="7333488" y="4325112"/>
            <a:ext cx="3584448" cy="256032"/>
          </a:xfrm>
          <a:prstGeom prst="rect">
            <a:avLst/>
          </a:prstGeom>
          <a:noFill/>
          <a:ln/>
        </p:spPr>
        <p:txBody>
          <a:bodyPr wrap="square" lIns="0" tIns="0" rIns="0" bIns="0" rtlCol="0" anchor="ctr">
            <a:normAutofit/>
          </a:bodyPr>
          <a:lstStyle/>
          <a:p>
            <a:pPr indent="0" marL="0">
              <a:buNone/>
            </a:pPr>
            <a:r>
              <a:rPr lang="en-US" sz="2100" b="1" dirty="0">
                <a:solidFill>
                  <a:srgbClr val="F7B955"/>
                </a:solidFill>
                <a:latin typeface="Arial" pitchFamily="34" charset="0"/>
                <a:ea typeface="Arial" pitchFamily="34" charset="-122"/>
                <a:cs typeface="Arial" pitchFamily="34" charset="-120"/>
              </a:rPr>
              <a:t>EXPORT</a:t>
            </a:r>
            <a:endParaRPr lang="en-US" sz="2100" dirty="0"/>
          </a:p>
        </p:txBody>
      </p:sp>
      <p:sp>
        <p:nvSpPr>
          <p:cNvPr id="27" name="Text 25"/>
          <p:cNvSpPr/>
          <p:nvPr/>
        </p:nvSpPr>
        <p:spPr>
          <a:xfrm>
            <a:off x="7333488" y="4636008"/>
            <a:ext cx="3611880" cy="256032"/>
          </a:xfrm>
          <a:prstGeom prst="rect">
            <a:avLst/>
          </a:prstGeom>
          <a:noFill/>
          <a:ln/>
        </p:spPr>
        <p:txBody>
          <a:bodyPr wrap="square" lIns="0" tIns="0" rIns="0" bIns="0" rtlCol="0" anchor="ctr">
            <a:normAutofit/>
          </a:bodyPr>
          <a:lstStyle/>
          <a:p>
            <a:pPr indent="0" marL="0">
              <a:buNone/>
            </a:pPr>
            <a:r>
              <a:rPr lang="en-US" sz="1500" dirty="0">
                <a:solidFill>
                  <a:srgbClr val="9AAABD"/>
                </a:solidFill>
                <a:latin typeface="Arial" pitchFamily="34" charset="0"/>
                <a:ea typeface="Arial" pitchFamily="34" charset="-122"/>
                <a:cs typeface="Arial" pitchFamily="34" charset="-120"/>
              </a:rPr>
              <a:t>Markdown, PDF, and JSON</a:t>
            </a:r>
            <a:endParaRPr lang="en-US" sz="1500" dirty="0"/>
          </a:p>
        </p:txBody>
      </p:sp>
      <p:sp>
        <p:nvSpPr>
          <p:cNvPr id="28" name="Text 26"/>
          <p:cNvSpPr/>
          <p:nvPr/>
        </p:nvSpPr>
        <p:spPr>
          <a:xfrm>
            <a:off x="1133856" y="5705856"/>
            <a:ext cx="9921240" cy="329184"/>
          </a:xfrm>
          <a:prstGeom prst="rect">
            <a:avLst/>
          </a:prstGeom>
          <a:noFill/>
          <a:ln/>
        </p:spPr>
        <p:txBody>
          <a:bodyPr wrap="square" lIns="0" tIns="0" rIns="0" bIns="0" rtlCol="0" anchor="ctr">
            <a:normAutofit/>
          </a:bodyPr>
          <a:lstStyle/>
          <a:p>
            <a:pPr algn="ctr" indent="0" marL="0">
              <a:buNone/>
            </a:pPr>
            <a:r>
              <a:rPr lang="en-US" sz="2000" b="1" dirty="0">
                <a:solidFill>
                  <a:srgbClr val="F4F7FB"/>
                </a:solidFill>
                <a:latin typeface="Arial" pitchFamily="34" charset="0"/>
                <a:ea typeface="Arial" pitchFamily="34" charset="-122"/>
                <a:cs typeface="Arial" pitchFamily="34" charset="-120"/>
              </a:rPr>
              <a:t>Optional reasoning consumes the evidence; it does not replace the evidence geometry.</a:t>
            </a:r>
            <a:endParaRPr lang="en-US" sz="2000" dirty="0"/>
          </a:p>
        </p:txBody>
      </p:sp>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658368" y="228600"/>
            <a:ext cx="7863840" cy="201168"/>
          </a:xfrm>
          <a:prstGeom prst="rect">
            <a:avLst/>
          </a:prstGeom>
          <a:noFill/>
          <a:ln/>
        </p:spPr>
        <p:txBody>
          <a:bodyPr wrap="square" lIns="0" tIns="0" rIns="0" bIns="0" rtlCol="0" anchor="ctr">
            <a:normAutofit/>
          </a:bodyPr>
          <a:lstStyle/>
          <a:p>
            <a:pPr indent="0" marL="0">
              <a:buNone/>
            </a:pPr>
            <a:r>
              <a:rPr lang="en-US" sz="1000" b="1" spc="100" kern="0" dirty="0">
                <a:solidFill>
                  <a:srgbClr val="58D5F8"/>
                </a:solidFill>
                <a:latin typeface="Arial" pitchFamily="34" charset="0"/>
                <a:ea typeface="Arial" pitchFamily="34" charset="-122"/>
                <a:cs typeface="Arial" pitchFamily="34" charset="-120"/>
              </a:rPr>
              <a:t>ACCELERATE WITH AI  /  PROTOTYPE VALIDATION</a:t>
            </a:r>
            <a:endParaRPr lang="en-US" sz="1000" dirty="0"/>
          </a:p>
        </p:txBody>
      </p:sp>
      <p:sp>
        <p:nvSpPr>
          <p:cNvPr id="3" name="Text 1"/>
          <p:cNvSpPr/>
          <p:nvPr/>
        </p:nvSpPr>
        <p:spPr>
          <a:xfrm>
            <a:off x="658368" y="566928"/>
            <a:ext cx="10881360" cy="548640"/>
          </a:xfrm>
          <a:prstGeom prst="rect">
            <a:avLst/>
          </a:prstGeom>
          <a:noFill/>
          <a:ln/>
        </p:spPr>
        <p:txBody>
          <a:bodyPr wrap="none" lIns="0" tIns="0" rIns="0" bIns="0" rtlCol="0" anchor="ctr">
            <a:normAutofit/>
          </a:bodyPr>
          <a:lstStyle/>
          <a:p>
            <a:pPr indent="0" marL="0">
              <a:buNone/>
            </a:pPr>
            <a:r>
              <a:rPr lang="en-US" sz="3700" b="1" dirty="0">
                <a:solidFill>
                  <a:srgbClr val="F4F7FB"/>
                </a:solidFill>
                <a:latin typeface="Arial" pitchFamily="34" charset="0"/>
                <a:ea typeface="Arial" pitchFamily="34" charset="-122"/>
                <a:cs typeface="Arial" pitchFamily="34" charset="-120"/>
              </a:rPr>
              <a:t>Manual review exceeded 95% in three workflows</a:t>
            </a:r>
            <a:endParaRPr lang="en-US" sz="3700" dirty="0"/>
          </a:p>
        </p:txBody>
      </p:sp>
      <p:sp>
        <p:nvSpPr>
          <p:cNvPr id="4" name="Text 2"/>
          <p:cNvSpPr/>
          <p:nvPr/>
        </p:nvSpPr>
        <p:spPr>
          <a:xfrm>
            <a:off x="658368" y="6492240"/>
            <a:ext cx="4937760" cy="146304"/>
          </a:xfrm>
          <a:prstGeom prst="rect">
            <a:avLst/>
          </a:prstGeom>
          <a:noFill/>
          <a:ln/>
        </p:spPr>
        <p:txBody>
          <a:bodyPr wrap="square" lIns="0" tIns="0" rIns="0" bIns="0" rtlCol="0" anchor="ctr">
            <a:normAutofit/>
          </a:bodyPr>
          <a:lstStyle/>
          <a:p>
            <a:pPr indent="0" marL="0">
              <a:buNone/>
            </a:pPr>
            <a:r>
              <a:rPr lang="en-US" sz="850" dirty="0">
                <a:solidFill>
                  <a:srgbClr val="66788D"/>
                </a:solidFill>
                <a:latin typeface="Arial" pitchFamily="34" charset="0"/>
                <a:ea typeface="Arial" pitchFamily="34" charset="-122"/>
                <a:cs typeface="Arial" pitchFamily="34" charset="-120"/>
              </a:rPr>
              <a:t>Grounded DocParse  |  Ahmad Mujtaba</a:t>
            </a:r>
            <a:endParaRPr lang="en-US" sz="850" dirty="0"/>
          </a:p>
        </p:txBody>
      </p:sp>
      <p:sp>
        <p:nvSpPr>
          <p:cNvPr id="5" name="Text 3"/>
          <p:cNvSpPr/>
          <p:nvPr/>
        </p:nvSpPr>
        <p:spPr>
          <a:xfrm>
            <a:off x="804672" y="1691640"/>
            <a:ext cx="3840480" cy="1005840"/>
          </a:xfrm>
          <a:prstGeom prst="rect">
            <a:avLst/>
          </a:prstGeom>
          <a:noFill/>
          <a:ln/>
        </p:spPr>
        <p:txBody>
          <a:bodyPr wrap="square" lIns="0" tIns="0" rIns="0" bIns="0" rtlCol="0" anchor="ctr">
            <a:normAutofit/>
          </a:bodyPr>
          <a:lstStyle/>
          <a:p>
            <a:pPr indent="0" marL="0">
              <a:buNone/>
            </a:pPr>
            <a:r>
              <a:rPr lang="en-US" sz="6600" b="1" dirty="0">
                <a:solidFill>
                  <a:srgbClr val="F4F7FB"/>
                </a:solidFill>
                <a:latin typeface="Arial" pitchFamily="34" charset="0"/>
                <a:ea typeface="Arial" pitchFamily="34" charset="-122"/>
                <a:cs typeface="Arial" pitchFamily="34" charset="-120"/>
              </a:rPr>
              <a:t>&gt;95%</a:t>
            </a:r>
            <a:endParaRPr lang="en-US" sz="6600" dirty="0"/>
          </a:p>
        </p:txBody>
      </p:sp>
      <p:sp>
        <p:nvSpPr>
          <p:cNvPr id="6" name="Text 4"/>
          <p:cNvSpPr/>
          <p:nvPr/>
        </p:nvSpPr>
        <p:spPr>
          <a:xfrm>
            <a:off x="841248" y="2788920"/>
            <a:ext cx="3493008" cy="658368"/>
          </a:xfrm>
          <a:prstGeom prst="rect">
            <a:avLst/>
          </a:prstGeom>
          <a:noFill/>
          <a:ln/>
        </p:spPr>
        <p:txBody>
          <a:bodyPr wrap="square" lIns="0" tIns="0" rIns="0" bIns="0" rtlCol="0" anchor="t">
            <a:normAutofit/>
          </a:bodyPr>
          <a:lstStyle/>
          <a:p>
            <a:pPr indent="0" marL="0">
              <a:buNone/>
            </a:pPr>
            <a:r>
              <a:rPr lang="en-US" sz="2000" b="1" spc="70" kern="0" dirty="0">
                <a:solidFill>
                  <a:srgbClr val="45D483"/>
                </a:solidFill>
                <a:latin typeface="Arial" pitchFamily="34" charset="0"/>
                <a:ea typeface="Arial" pitchFamily="34" charset="-122"/>
                <a:cs typeface="Arial" pitchFamily="34" charset="-120"/>
              </a:rPr>
              <a:t>PRACTITIONER-VALIDATED</a:t>
            </a:r>
            <a:endParaRPr lang="en-US" sz="2000" dirty="0"/>
          </a:p>
          <a:p>
            <a:pPr indent="0" marL="0">
              <a:buNone/>
            </a:pPr>
            <a:r>
              <a:rPr lang="en-US" sz="2000" b="1" spc="70" kern="0" dirty="0">
                <a:solidFill>
                  <a:srgbClr val="45D483"/>
                </a:solidFill>
                <a:latin typeface="Arial" pitchFamily="34" charset="0"/>
                <a:ea typeface="Arial" pitchFamily="34" charset="-122"/>
                <a:cs typeface="Arial" pitchFamily="34" charset="-120"/>
              </a:rPr>
              <a:t>CORRECTNESS</a:t>
            </a:r>
            <a:endParaRPr lang="en-US" sz="2000" dirty="0"/>
          </a:p>
        </p:txBody>
      </p:sp>
      <p:sp>
        <p:nvSpPr>
          <p:cNvPr id="7" name="Text 5"/>
          <p:cNvSpPr/>
          <p:nvPr/>
        </p:nvSpPr>
        <p:spPr>
          <a:xfrm>
            <a:off x="841248" y="3813048"/>
            <a:ext cx="4023360" cy="329184"/>
          </a:xfrm>
          <a:prstGeom prst="rect">
            <a:avLst/>
          </a:prstGeom>
          <a:noFill/>
          <a:ln/>
        </p:spPr>
        <p:txBody>
          <a:bodyPr wrap="square" lIns="0" tIns="0" rIns="0" bIns="0" rtlCol="0" anchor="ctr">
            <a:normAutofit/>
          </a:bodyPr>
          <a:lstStyle/>
          <a:p>
            <a:pPr indent="0" marL="0">
              <a:buNone/>
            </a:pPr>
            <a:r>
              <a:rPr lang="en-US" sz="1900" b="1" dirty="0">
                <a:solidFill>
                  <a:srgbClr val="F7B955"/>
                </a:solidFill>
                <a:latin typeface="Arial" pitchFamily="34" charset="0"/>
                <a:ea typeface="Arial" pitchFamily="34" charset="-122"/>
                <a:cs typeface="Arial" pitchFamily="34" charset="-120"/>
              </a:rPr>
              <a:t>6 anonymous PDFs  •  97 pages</a:t>
            </a:r>
            <a:endParaRPr lang="en-US" sz="1900" dirty="0"/>
          </a:p>
        </p:txBody>
      </p:sp>
      <p:sp>
        <p:nvSpPr>
          <p:cNvPr id="8" name="Text 6"/>
          <p:cNvSpPr/>
          <p:nvPr/>
        </p:nvSpPr>
        <p:spPr>
          <a:xfrm>
            <a:off x="841248" y="4279392"/>
            <a:ext cx="3703320" cy="274320"/>
          </a:xfrm>
          <a:prstGeom prst="rect">
            <a:avLst/>
          </a:prstGeom>
          <a:noFill/>
          <a:ln/>
        </p:spPr>
        <p:txBody>
          <a:bodyPr wrap="square" lIns="0" tIns="0" rIns="0" bIns="0" rtlCol="0" anchor="ctr">
            <a:normAutofit/>
          </a:bodyPr>
          <a:lstStyle/>
          <a:p>
            <a:pPr indent="0" marL="0">
              <a:buNone/>
            </a:pPr>
            <a:r>
              <a:rPr lang="en-US" sz="1600" dirty="0">
                <a:solidFill>
                  <a:srgbClr val="9AAABD"/>
                </a:solidFill>
                <a:latin typeface="Arial" pitchFamily="34" charset="0"/>
                <a:ea typeface="Arial" pitchFamily="34" charset="-122"/>
                <a:cs typeface="Arial" pitchFamily="34" charset="-120"/>
              </a:rPr>
              <a:t>Checkbox states included where present</a:t>
            </a:r>
            <a:endParaRPr lang="en-US" sz="1600" dirty="0"/>
          </a:p>
        </p:txBody>
      </p:sp>
      <p:sp>
        <p:nvSpPr>
          <p:cNvPr id="9" name="Text 7"/>
          <p:cNvSpPr/>
          <p:nvPr/>
        </p:nvSpPr>
        <p:spPr>
          <a:xfrm>
            <a:off x="5148072" y="1956816"/>
            <a:ext cx="1938528" cy="256032"/>
          </a:xfrm>
          <a:prstGeom prst="rect">
            <a:avLst/>
          </a:prstGeom>
          <a:noFill/>
          <a:ln/>
        </p:spPr>
        <p:txBody>
          <a:bodyPr wrap="square" lIns="0" tIns="0" rIns="0" bIns="0" rtlCol="0" anchor="ctr">
            <a:normAutofit/>
          </a:bodyPr>
          <a:lstStyle/>
          <a:p>
            <a:pPr indent="0" marL="0">
              <a:buNone/>
            </a:pPr>
            <a:r>
              <a:rPr lang="en-US" sz="1800" b="1" spc="60" kern="0" dirty="0">
                <a:solidFill>
                  <a:srgbClr val="58D5F8"/>
                </a:solidFill>
                <a:latin typeface="Arial" pitchFamily="34" charset="0"/>
                <a:ea typeface="Arial" pitchFamily="34" charset="-122"/>
                <a:cs typeface="Arial" pitchFamily="34" charset="-120"/>
              </a:rPr>
              <a:t>PARSE</a:t>
            </a:r>
            <a:endParaRPr lang="en-US" sz="1800" dirty="0"/>
          </a:p>
        </p:txBody>
      </p:sp>
      <p:sp>
        <p:nvSpPr>
          <p:cNvPr id="10" name="Shape 8"/>
          <p:cNvSpPr/>
          <p:nvPr/>
        </p:nvSpPr>
        <p:spPr>
          <a:xfrm>
            <a:off x="5148072" y="2340864"/>
            <a:ext cx="5212080" cy="365760"/>
          </a:xfrm>
          <a:prstGeom prst="roundRect">
            <a:avLst/>
          </a:prstGeom>
          <a:solidFill>
            <a:srgbClr val="172438"/>
          </a:solidFill>
          <a:ln w="10160">
            <a:solidFill>
              <a:srgbClr val="2A3B50"/>
            </a:solidFill>
            <a:prstDash val="solid"/>
          </a:ln>
        </p:spPr>
      </p:sp>
      <p:sp>
        <p:nvSpPr>
          <p:cNvPr id="11" name="Shape 9"/>
          <p:cNvSpPr/>
          <p:nvPr/>
        </p:nvSpPr>
        <p:spPr>
          <a:xfrm>
            <a:off x="5148072" y="2340864"/>
            <a:ext cx="4965192" cy="365760"/>
          </a:xfrm>
          <a:prstGeom prst="roundRect">
            <a:avLst/>
          </a:prstGeom>
          <a:solidFill>
            <a:srgbClr val="58D5F8"/>
          </a:solidFill>
          <a:ln w="10160">
            <a:solidFill>
              <a:srgbClr val="58D5F8"/>
            </a:solidFill>
            <a:prstDash val="solid"/>
          </a:ln>
        </p:spPr>
      </p:sp>
      <p:sp>
        <p:nvSpPr>
          <p:cNvPr id="12" name="Text 10"/>
          <p:cNvSpPr/>
          <p:nvPr/>
        </p:nvSpPr>
        <p:spPr>
          <a:xfrm>
            <a:off x="10479024" y="2322576"/>
            <a:ext cx="713232" cy="365760"/>
          </a:xfrm>
          <a:prstGeom prst="rect">
            <a:avLst/>
          </a:prstGeom>
          <a:noFill/>
          <a:ln/>
        </p:spPr>
        <p:txBody>
          <a:bodyPr wrap="square" lIns="0" tIns="0" rIns="0" bIns="0" rtlCol="0" anchor="ctr">
            <a:normAutofit/>
          </a:bodyPr>
          <a:lstStyle/>
          <a:p>
            <a:pPr algn="r" indent="0" marL="0">
              <a:buNone/>
            </a:pPr>
            <a:r>
              <a:rPr lang="en-US" sz="1800" b="1" dirty="0">
                <a:solidFill>
                  <a:srgbClr val="F4F7FB"/>
                </a:solidFill>
                <a:latin typeface="Arial" pitchFamily="34" charset="0"/>
                <a:ea typeface="Arial" pitchFamily="34" charset="-122"/>
                <a:cs typeface="Arial" pitchFamily="34" charset="-120"/>
              </a:rPr>
              <a:t>&gt;95%</a:t>
            </a:r>
            <a:endParaRPr lang="en-US" sz="1800" dirty="0"/>
          </a:p>
        </p:txBody>
      </p:sp>
      <p:sp>
        <p:nvSpPr>
          <p:cNvPr id="13" name="Text 11"/>
          <p:cNvSpPr/>
          <p:nvPr/>
        </p:nvSpPr>
        <p:spPr>
          <a:xfrm>
            <a:off x="5148072" y="3054096"/>
            <a:ext cx="1938528" cy="256032"/>
          </a:xfrm>
          <a:prstGeom prst="rect">
            <a:avLst/>
          </a:prstGeom>
          <a:noFill/>
          <a:ln/>
        </p:spPr>
        <p:txBody>
          <a:bodyPr wrap="square" lIns="0" tIns="0" rIns="0" bIns="0" rtlCol="0" anchor="ctr">
            <a:normAutofit/>
          </a:bodyPr>
          <a:lstStyle/>
          <a:p>
            <a:pPr indent="0" marL="0">
              <a:buNone/>
            </a:pPr>
            <a:r>
              <a:rPr lang="en-US" sz="1800" b="1" spc="60" kern="0" dirty="0">
                <a:solidFill>
                  <a:srgbClr val="796FFF"/>
                </a:solidFill>
                <a:latin typeface="Arial" pitchFamily="34" charset="0"/>
                <a:ea typeface="Arial" pitchFamily="34" charset="-122"/>
                <a:cs typeface="Arial" pitchFamily="34" charset="-120"/>
              </a:rPr>
              <a:t>EXTRACT</a:t>
            </a:r>
            <a:endParaRPr lang="en-US" sz="1800" dirty="0"/>
          </a:p>
        </p:txBody>
      </p:sp>
      <p:sp>
        <p:nvSpPr>
          <p:cNvPr id="14" name="Shape 12"/>
          <p:cNvSpPr/>
          <p:nvPr/>
        </p:nvSpPr>
        <p:spPr>
          <a:xfrm>
            <a:off x="5148072" y="3438144"/>
            <a:ext cx="5212080" cy="365760"/>
          </a:xfrm>
          <a:prstGeom prst="roundRect">
            <a:avLst/>
          </a:prstGeom>
          <a:solidFill>
            <a:srgbClr val="172438"/>
          </a:solidFill>
          <a:ln w="10160">
            <a:solidFill>
              <a:srgbClr val="2A3B50"/>
            </a:solidFill>
            <a:prstDash val="solid"/>
          </a:ln>
        </p:spPr>
      </p:sp>
      <p:sp>
        <p:nvSpPr>
          <p:cNvPr id="15" name="Shape 13"/>
          <p:cNvSpPr/>
          <p:nvPr/>
        </p:nvSpPr>
        <p:spPr>
          <a:xfrm>
            <a:off x="5148072" y="3438144"/>
            <a:ext cx="4965192" cy="365760"/>
          </a:xfrm>
          <a:prstGeom prst="roundRect">
            <a:avLst/>
          </a:prstGeom>
          <a:solidFill>
            <a:srgbClr val="796FFF"/>
          </a:solidFill>
          <a:ln w="10160">
            <a:solidFill>
              <a:srgbClr val="796FFF"/>
            </a:solidFill>
            <a:prstDash val="solid"/>
          </a:ln>
        </p:spPr>
      </p:sp>
      <p:sp>
        <p:nvSpPr>
          <p:cNvPr id="16" name="Text 14"/>
          <p:cNvSpPr/>
          <p:nvPr/>
        </p:nvSpPr>
        <p:spPr>
          <a:xfrm>
            <a:off x="10479024" y="3419856"/>
            <a:ext cx="713232" cy="365760"/>
          </a:xfrm>
          <a:prstGeom prst="rect">
            <a:avLst/>
          </a:prstGeom>
          <a:noFill/>
          <a:ln/>
        </p:spPr>
        <p:txBody>
          <a:bodyPr wrap="square" lIns="0" tIns="0" rIns="0" bIns="0" rtlCol="0" anchor="ctr">
            <a:normAutofit/>
          </a:bodyPr>
          <a:lstStyle/>
          <a:p>
            <a:pPr algn="r" indent="0" marL="0">
              <a:buNone/>
            </a:pPr>
            <a:r>
              <a:rPr lang="en-US" sz="1800" b="1" dirty="0">
                <a:solidFill>
                  <a:srgbClr val="F4F7FB"/>
                </a:solidFill>
                <a:latin typeface="Arial" pitchFamily="34" charset="0"/>
                <a:ea typeface="Arial" pitchFamily="34" charset="-122"/>
                <a:cs typeface="Arial" pitchFamily="34" charset="-120"/>
              </a:rPr>
              <a:t>&gt;95%</a:t>
            </a:r>
            <a:endParaRPr lang="en-US" sz="1800" dirty="0"/>
          </a:p>
        </p:txBody>
      </p:sp>
      <p:sp>
        <p:nvSpPr>
          <p:cNvPr id="17" name="Text 15"/>
          <p:cNvSpPr/>
          <p:nvPr/>
        </p:nvSpPr>
        <p:spPr>
          <a:xfrm>
            <a:off x="5148072" y="4151376"/>
            <a:ext cx="1938528" cy="256032"/>
          </a:xfrm>
          <a:prstGeom prst="rect">
            <a:avLst/>
          </a:prstGeom>
          <a:noFill/>
          <a:ln/>
        </p:spPr>
        <p:txBody>
          <a:bodyPr wrap="square" lIns="0" tIns="0" rIns="0" bIns="0" rtlCol="0" anchor="ctr">
            <a:normAutofit/>
          </a:bodyPr>
          <a:lstStyle/>
          <a:p>
            <a:pPr indent="0" marL="0">
              <a:buNone/>
            </a:pPr>
            <a:r>
              <a:rPr lang="en-US" sz="1800" b="1" spc="60" kern="0" dirty="0">
                <a:solidFill>
                  <a:srgbClr val="45D483"/>
                </a:solidFill>
                <a:latin typeface="Arial" pitchFamily="34" charset="0"/>
                <a:ea typeface="Arial" pitchFamily="34" charset="-122"/>
                <a:cs typeface="Arial" pitchFamily="34" charset="-120"/>
              </a:rPr>
              <a:t>GROUNDED CHAT</a:t>
            </a:r>
            <a:endParaRPr lang="en-US" sz="1800" dirty="0"/>
          </a:p>
        </p:txBody>
      </p:sp>
      <p:sp>
        <p:nvSpPr>
          <p:cNvPr id="18" name="Shape 16"/>
          <p:cNvSpPr/>
          <p:nvPr/>
        </p:nvSpPr>
        <p:spPr>
          <a:xfrm>
            <a:off x="5148072" y="4535424"/>
            <a:ext cx="5212080" cy="365760"/>
          </a:xfrm>
          <a:prstGeom prst="roundRect">
            <a:avLst/>
          </a:prstGeom>
          <a:solidFill>
            <a:srgbClr val="172438"/>
          </a:solidFill>
          <a:ln w="10160">
            <a:solidFill>
              <a:srgbClr val="2A3B50"/>
            </a:solidFill>
            <a:prstDash val="solid"/>
          </a:ln>
        </p:spPr>
      </p:sp>
      <p:sp>
        <p:nvSpPr>
          <p:cNvPr id="19" name="Shape 17"/>
          <p:cNvSpPr/>
          <p:nvPr/>
        </p:nvSpPr>
        <p:spPr>
          <a:xfrm>
            <a:off x="5148072" y="4535424"/>
            <a:ext cx="4965192" cy="365760"/>
          </a:xfrm>
          <a:prstGeom prst="roundRect">
            <a:avLst/>
          </a:prstGeom>
          <a:solidFill>
            <a:srgbClr val="45D483"/>
          </a:solidFill>
          <a:ln w="10160">
            <a:solidFill>
              <a:srgbClr val="45D483"/>
            </a:solidFill>
            <a:prstDash val="solid"/>
          </a:ln>
        </p:spPr>
      </p:sp>
      <p:sp>
        <p:nvSpPr>
          <p:cNvPr id="20" name="Text 18"/>
          <p:cNvSpPr/>
          <p:nvPr/>
        </p:nvSpPr>
        <p:spPr>
          <a:xfrm>
            <a:off x="10479024" y="4517136"/>
            <a:ext cx="713232" cy="365760"/>
          </a:xfrm>
          <a:prstGeom prst="rect">
            <a:avLst/>
          </a:prstGeom>
          <a:noFill/>
          <a:ln/>
        </p:spPr>
        <p:txBody>
          <a:bodyPr wrap="square" lIns="0" tIns="0" rIns="0" bIns="0" rtlCol="0" anchor="ctr">
            <a:normAutofit/>
          </a:bodyPr>
          <a:lstStyle/>
          <a:p>
            <a:pPr algn="r" indent="0" marL="0">
              <a:buNone/>
            </a:pPr>
            <a:r>
              <a:rPr lang="en-US" sz="1800" b="1" dirty="0">
                <a:solidFill>
                  <a:srgbClr val="F4F7FB"/>
                </a:solidFill>
                <a:latin typeface="Arial" pitchFamily="34" charset="0"/>
                <a:ea typeface="Arial" pitchFamily="34" charset="-122"/>
                <a:cs typeface="Arial" pitchFamily="34" charset="-120"/>
              </a:rPr>
              <a:t>&gt;95%</a:t>
            </a:r>
            <a:endParaRPr lang="en-US" sz="1800" dirty="0"/>
          </a:p>
        </p:txBody>
      </p:sp>
      <p:sp>
        <p:nvSpPr>
          <p:cNvPr id="21" name="Shape 19"/>
          <p:cNvSpPr/>
          <p:nvPr/>
        </p:nvSpPr>
        <p:spPr>
          <a:xfrm>
            <a:off x="786384" y="5111496"/>
            <a:ext cx="10607040" cy="585216"/>
          </a:xfrm>
          <a:prstGeom prst="roundRect">
            <a:avLst/>
          </a:prstGeom>
          <a:solidFill>
            <a:srgbClr val="172438"/>
          </a:solidFill>
          <a:ln w="15240">
            <a:solidFill>
              <a:srgbClr val="F7B955"/>
            </a:solidFill>
            <a:prstDash val="solid"/>
          </a:ln>
        </p:spPr>
      </p:sp>
      <p:sp>
        <p:nvSpPr>
          <p:cNvPr id="22" name="Text 20"/>
          <p:cNvSpPr/>
          <p:nvPr/>
        </p:nvSpPr>
        <p:spPr>
          <a:xfrm>
            <a:off x="1051560" y="5266944"/>
            <a:ext cx="10076688" cy="256032"/>
          </a:xfrm>
          <a:prstGeom prst="rect">
            <a:avLst/>
          </a:prstGeom>
          <a:noFill/>
          <a:ln/>
        </p:spPr>
        <p:txBody>
          <a:bodyPr wrap="square" lIns="0" tIns="0" rIns="0" bIns="0" rtlCol="0" anchor="ctr">
            <a:normAutofit/>
          </a:bodyPr>
          <a:lstStyle/>
          <a:p>
            <a:pPr algn="ctr" indent="0" marL="0">
              <a:buNone/>
            </a:pPr>
            <a:r>
              <a:rPr lang="en-US" sz="1600" b="1" dirty="0">
                <a:solidFill>
                  <a:srgbClr val="F4F7FB"/>
                </a:solidFill>
                <a:latin typeface="Arial" pitchFamily="34" charset="0"/>
                <a:ea typeface="Arial" pitchFamily="34" charset="-122"/>
                <a:cs typeface="Arial" pitchFamily="34" charset="-120"/>
              </a:rPr>
              <a:t>Manual source review; not independently audited or a production benchmark.</a:t>
            </a:r>
            <a:endParaRPr lang="en-US" sz="1600" dirty="0"/>
          </a:p>
        </p:txBody>
      </p:sp>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18"/>
        </a:solidFill>
      </p:bgPr>
    </p:bg>
    <p:spTree>
      <p:nvGrpSpPr>
        <p:cNvPr id="1" name=""/>
        <p:cNvGrpSpPr/>
        <p:nvPr/>
      </p:nvGrpSpPr>
      <p:grpSpPr>
        <a:xfrm>
          <a:off x="0" y="0"/>
          <a:ext cx="0" cy="0"/>
          <a:chOff x="0" y="0"/>
          <a:chExt cx="0" cy="0"/>
        </a:xfrm>
      </p:grpSpPr>
      <p:sp>
        <p:nvSpPr>
          <p:cNvPr id="2" name="Text 0"/>
          <p:cNvSpPr/>
          <p:nvPr/>
        </p:nvSpPr>
        <p:spPr>
          <a:xfrm>
            <a:off x="658368" y="228600"/>
            <a:ext cx="7863840" cy="201168"/>
          </a:xfrm>
          <a:prstGeom prst="rect">
            <a:avLst/>
          </a:prstGeom>
          <a:noFill/>
          <a:ln/>
        </p:spPr>
        <p:txBody>
          <a:bodyPr wrap="square" lIns="0" tIns="0" rIns="0" bIns="0" rtlCol="0" anchor="ctr">
            <a:normAutofit/>
          </a:bodyPr>
          <a:lstStyle/>
          <a:p>
            <a:pPr indent="0" marL="0">
              <a:buNone/>
            </a:pPr>
            <a:r>
              <a:rPr lang="en-US" sz="1000" b="1" spc="100" kern="0" dirty="0">
                <a:solidFill>
                  <a:srgbClr val="58D5F8"/>
                </a:solidFill>
                <a:latin typeface="Arial" pitchFamily="34" charset="0"/>
                <a:ea typeface="Arial" pitchFamily="34" charset="-122"/>
                <a:cs typeface="Arial" pitchFamily="34" charset="-120"/>
              </a:rPr>
              <a:t>ACCELERATE WITH AI  /  THE TAKEAWAY</a:t>
            </a:r>
            <a:endParaRPr lang="en-US" sz="1000" dirty="0"/>
          </a:p>
        </p:txBody>
      </p:sp>
      <p:sp>
        <p:nvSpPr>
          <p:cNvPr id="3" name="Text 1"/>
          <p:cNvSpPr/>
          <p:nvPr/>
        </p:nvSpPr>
        <p:spPr>
          <a:xfrm>
            <a:off x="658368" y="566928"/>
            <a:ext cx="10881360" cy="548640"/>
          </a:xfrm>
          <a:prstGeom prst="rect">
            <a:avLst/>
          </a:prstGeom>
          <a:noFill/>
          <a:ln/>
        </p:spPr>
        <p:txBody>
          <a:bodyPr wrap="none" lIns="0" tIns="0" rIns="0" bIns="0" rtlCol="0" anchor="ctr">
            <a:normAutofit/>
          </a:bodyPr>
          <a:lstStyle/>
          <a:p>
            <a:pPr indent="0" marL="0">
              <a:buNone/>
            </a:pPr>
            <a:r>
              <a:rPr lang="en-US" sz="3700" b="1" dirty="0">
                <a:solidFill>
                  <a:srgbClr val="F4F7FB"/>
                </a:solidFill>
                <a:latin typeface="Arial" pitchFamily="34" charset="0"/>
                <a:ea typeface="Arial" pitchFamily="34" charset="-122"/>
                <a:cs typeface="Arial" pitchFamily="34" charset="-120"/>
              </a:rPr>
              <a:t>Evidence keeps AI-assisted work reviewable</a:t>
            </a:r>
            <a:endParaRPr lang="en-US" sz="3700" dirty="0"/>
          </a:p>
        </p:txBody>
      </p:sp>
      <p:sp>
        <p:nvSpPr>
          <p:cNvPr id="4" name="Text 2"/>
          <p:cNvSpPr/>
          <p:nvPr/>
        </p:nvSpPr>
        <p:spPr>
          <a:xfrm>
            <a:off x="658368" y="6492240"/>
            <a:ext cx="4937760" cy="146304"/>
          </a:xfrm>
          <a:prstGeom prst="rect">
            <a:avLst/>
          </a:prstGeom>
          <a:noFill/>
          <a:ln/>
        </p:spPr>
        <p:txBody>
          <a:bodyPr wrap="square" lIns="0" tIns="0" rIns="0" bIns="0" rtlCol="0" anchor="ctr">
            <a:normAutofit/>
          </a:bodyPr>
          <a:lstStyle/>
          <a:p>
            <a:pPr indent="0" marL="0">
              <a:buNone/>
            </a:pPr>
            <a:r>
              <a:rPr lang="en-US" sz="850" dirty="0">
                <a:solidFill>
                  <a:srgbClr val="66788D"/>
                </a:solidFill>
                <a:latin typeface="Arial" pitchFamily="34" charset="0"/>
                <a:ea typeface="Arial" pitchFamily="34" charset="-122"/>
                <a:cs typeface="Arial" pitchFamily="34" charset="-120"/>
              </a:rPr>
              <a:t>Grounded DocParse  |  Ahmad Mujtaba</a:t>
            </a:r>
            <a:endParaRPr lang="en-US" sz="850" dirty="0"/>
          </a:p>
        </p:txBody>
      </p:sp>
      <p:sp>
        <p:nvSpPr>
          <p:cNvPr id="5" name="Shape 3"/>
          <p:cNvSpPr/>
          <p:nvPr/>
        </p:nvSpPr>
        <p:spPr>
          <a:xfrm>
            <a:off x="2999232" y="3145536"/>
            <a:ext cx="749808" cy="0"/>
          </a:xfrm>
          <a:prstGeom prst="line">
            <a:avLst/>
          </a:prstGeom>
          <a:noFill/>
          <a:ln w="21590">
            <a:solidFill>
              <a:srgbClr val="66788D"/>
            </a:solidFill>
            <a:prstDash val="solid"/>
            <a:tailEnd type="triangle"/>
          </a:ln>
        </p:spPr>
      </p:sp>
      <p:sp>
        <p:nvSpPr>
          <p:cNvPr id="6" name="Shape 4"/>
          <p:cNvSpPr/>
          <p:nvPr/>
        </p:nvSpPr>
        <p:spPr>
          <a:xfrm>
            <a:off x="6199632" y="3145536"/>
            <a:ext cx="749808" cy="0"/>
          </a:xfrm>
          <a:prstGeom prst="line">
            <a:avLst/>
          </a:prstGeom>
          <a:noFill/>
          <a:ln w="21590">
            <a:solidFill>
              <a:srgbClr val="66788D"/>
            </a:solidFill>
            <a:prstDash val="solid"/>
            <a:tailEnd type="triangle"/>
          </a:ln>
        </p:spPr>
      </p:sp>
      <p:sp>
        <p:nvSpPr>
          <p:cNvPr id="7" name="Text 5"/>
          <p:cNvSpPr/>
          <p:nvPr/>
        </p:nvSpPr>
        <p:spPr>
          <a:xfrm>
            <a:off x="987552" y="1901952"/>
            <a:ext cx="694944" cy="347472"/>
          </a:xfrm>
          <a:prstGeom prst="rect">
            <a:avLst/>
          </a:prstGeom>
          <a:noFill/>
          <a:ln/>
        </p:spPr>
        <p:txBody>
          <a:bodyPr wrap="square" lIns="0" tIns="0" rIns="0" bIns="0" rtlCol="0" anchor="ctr">
            <a:normAutofit/>
          </a:bodyPr>
          <a:lstStyle/>
          <a:p>
            <a:pPr indent="0" marL="0">
              <a:buNone/>
            </a:pPr>
            <a:r>
              <a:rPr lang="en-US" sz="1800" b="1" spc="80" kern="0" dirty="0">
                <a:solidFill>
                  <a:srgbClr val="58D5F8"/>
                </a:solidFill>
                <a:latin typeface="Arial" pitchFamily="34" charset="0"/>
                <a:ea typeface="Arial" pitchFamily="34" charset="-122"/>
                <a:cs typeface="Arial" pitchFamily="34" charset="-120"/>
              </a:rPr>
              <a:t>01</a:t>
            </a:r>
            <a:endParaRPr lang="en-US" sz="1800" dirty="0"/>
          </a:p>
        </p:txBody>
      </p:sp>
      <p:sp>
        <p:nvSpPr>
          <p:cNvPr id="8" name="Text 6"/>
          <p:cNvSpPr/>
          <p:nvPr/>
        </p:nvSpPr>
        <p:spPr>
          <a:xfrm>
            <a:off x="987552" y="2450592"/>
            <a:ext cx="2423160" cy="640080"/>
          </a:xfrm>
          <a:prstGeom prst="rect">
            <a:avLst/>
          </a:prstGeom>
          <a:noFill/>
          <a:ln/>
        </p:spPr>
        <p:txBody>
          <a:bodyPr wrap="square" lIns="0" tIns="0" rIns="0" bIns="0" rtlCol="0" anchor="t">
            <a:normAutofit/>
          </a:bodyPr>
          <a:lstStyle/>
          <a:p>
            <a:pPr indent="0" marL="0">
              <a:buNone/>
            </a:pPr>
            <a:r>
              <a:rPr lang="en-US" sz="2200" b="1" dirty="0">
                <a:solidFill>
                  <a:srgbClr val="F4F7FB"/>
                </a:solidFill>
                <a:latin typeface="Arial" pitchFamily="34" charset="0"/>
                <a:ea typeface="Arial" pitchFamily="34" charset="-122"/>
                <a:cs typeface="Arial" pitchFamily="34" charset="-120"/>
              </a:rPr>
              <a:t>LESS REPEATED WORK</a:t>
            </a:r>
            <a:endParaRPr lang="en-US" sz="2200" dirty="0"/>
          </a:p>
        </p:txBody>
      </p:sp>
      <p:sp>
        <p:nvSpPr>
          <p:cNvPr id="9" name="Text 7"/>
          <p:cNvSpPr/>
          <p:nvPr/>
        </p:nvSpPr>
        <p:spPr>
          <a:xfrm>
            <a:off x="987552" y="3401568"/>
            <a:ext cx="2395728" cy="640080"/>
          </a:xfrm>
          <a:prstGeom prst="rect">
            <a:avLst/>
          </a:prstGeom>
          <a:noFill/>
          <a:ln/>
        </p:spPr>
        <p:txBody>
          <a:bodyPr wrap="square" lIns="0" tIns="0" rIns="0" bIns="0" rtlCol="0" anchor="t">
            <a:normAutofit/>
          </a:bodyPr>
          <a:lstStyle/>
          <a:p>
            <a:pPr indent="0" marL="0">
              <a:buNone/>
            </a:pPr>
            <a:r>
              <a:rPr lang="en-US" sz="1700" dirty="0">
                <a:solidFill>
                  <a:srgbClr val="9AAABD"/>
                </a:solidFill>
                <a:latin typeface="Arial" pitchFamily="34" charset="0"/>
                <a:ea typeface="Arial" pitchFamily="34" charset="-122"/>
                <a:cs typeface="Arial" pitchFamily="34" charset="-120"/>
              </a:rPr>
              <a:t>Parse once and reuse the result.</a:t>
            </a:r>
            <a:endParaRPr lang="en-US" sz="1700" dirty="0"/>
          </a:p>
        </p:txBody>
      </p:sp>
      <p:sp>
        <p:nvSpPr>
          <p:cNvPr id="10" name="Text 8"/>
          <p:cNvSpPr/>
          <p:nvPr/>
        </p:nvSpPr>
        <p:spPr>
          <a:xfrm>
            <a:off x="4187952" y="1901952"/>
            <a:ext cx="694944" cy="347472"/>
          </a:xfrm>
          <a:prstGeom prst="rect">
            <a:avLst/>
          </a:prstGeom>
          <a:noFill/>
          <a:ln/>
        </p:spPr>
        <p:txBody>
          <a:bodyPr wrap="square" lIns="0" tIns="0" rIns="0" bIns="0" rtlCol="0" anchor="ctr">
            <a:normAutofit/>
          </a:bodyPr>
          <a:lstStyle/>
          <a:p>
            <a:pPr indent="0" marL="0">
              <a:buNone/>
            </a:pPr>
            <a:r>
              <a:rPr lang="en-US" sz="1800" b="1" spc="80" kern="0" dirty="0">
                <a:solidFill>
                  <a:srgbClr val="796FFF"/>
                </a:solidFill>
                <a:latin typeface="Arial" pitchFamily="34" charset="0"/>
                <a:ea typeface="Arial" pitchFamily="34" charset="-122"/>
                <a:cs typeface="Arial" pitchFamily="34" charset="-120"/>
              </a:rPr>
              <a:t>02</a:t>
            </a:r>
            <a:endParaRPr lang="en-US" sz="1800" dirty="0"/>
          </a:p>
        </p:txBody>
      </p:sp>
      <p:sp>
        <p:nvSpPr>
          <p:cNvPr id="11" name="Text 9"/>
          <p:cNvSpPr/>
          <p:nvPr/>
        </p:nvSpPr>
        <p:spPr>
          <a:xfrm>
            <a:off x="4187952" y="2450592"/>
            <a:ext cx="2423160" cy="640080"/>
          </a:xfrm>
          <a:prstGeom prst="rect">
            <a:avLst/>
          </a:prstGeom>
          <a:noFill/>
          <a:ln/>
        </p:spPr>
        <p:txBody>
          <a:bodyPr wrap="square" lIns="0" tIns="0" rIns="0" bIns="0" rtlCol="0" anchor="t">
            <a:normAutofit/>
          </a:bodyPr>
          <a:lstStyle/>
          <a:p>
            <a:pPr indent="0" marL="0">
              <a:buNone/>
            </a:pPr>
            <a:r>
              <a:rPr lang="en-US" sz="2200" b="1" dirty="0">
                <a:solidFill>
                  <a:srgbClr val="F4F7FB"/>
                </a:solidFill>
                <a:latin typeface="Arial" pitchFamily="34" charset="0"/>
                <a:ea typeface="Arial" pitchFamily="34" charset="-122"/>
                <a:cs typeface="Arial" pitchFamily="34" charset="-120"/>
              </a:rPr>
              <a:t>STRUCTURED OUTPUT</a:t>
            </a:r>
            <a:endParaRPr lang="en-US" sz="2200" dirty="0"/>
          </a:p>
        </p:txBody>
      </p:sp>
      <p:sp>
        <p:nvSpPr>
          <p:cNvPr id="12" name="Text 10"/>
          <p:cNvSpPr/>
          <p:nvPr/>
        </p:nvSpPr>
        <p:spPr>
          <a:xfrm>
            <a:off x="4187952" y="3401568"/>
            <a:ext cx="2395728" cy="640080"/>
          </a:xfrm>
          <a:prstGeom prst="rect">
            <a:avLst/>
          </a:prstGeom>
          <a:noFill/>
          <a:ln/>
        </p:spPr>
        <p:txBody>
          <a:bodyPr wrap="square" lIns="0" tIns="0" rIns="0" bIns="0" rtlCol="0" anchor="t">
            <a:normAutofit/>
          </a:bodyPr>
          <a:lstStyle/>
          <a:p>
            <a:pPr indent="0" marL="0">
              <a:buNone/>
            </a:pPr>
            <a:r>
              <a:rPr lang="en-US" sz="1700" dirty="0">
                <a:solidFill>
                  <a:srgbClr val="9AAABD"/>
                </a:solidFill>
                <a:latin typeface="Arial" pitchFamily="34" charset="0"/>
                <a:ea typeface="Arial" pitchFamily="34" charset="-122"/>
                <a:cs typeface="Arial" pitchFamily="34" charset="-120"/>
              </a:rPr>
              <a:t>Route, extract, chat, and export.</a:t>
            </a:r>
            <a:endParaRPr lang="en-US" sz="1700" dirty="0"/>
          </a:p>
        </p:txBody>
      </p:sp>
      <p:sp>
        <p:nvSpPr>
          <p:cNvPr id="13" name="Text 11"/>
          <p:cNvSpPr/>
          <p:nvPr/>
        </p:nvSpPr>
        <p:spPr>
          <a:xfrm>
            <a:off x="7388352" y="1901952"/>
            <a:ext cx="694944" cy="347472"/>
          </a:xfrm>
          <a:prstGeom prst="rect">
            <a:avLst/>
          </a:prstGeom>
          <a:noFill/>
          <a:ln/>
        </p:spPr>
        <p:txBody>
          <a:bodyPr wrap="square" lIns="0" tIns="0" rIns="0" bIns="0" rtlCol="0" anchor="ctr">
            <a:normAutofit/>
          </a:bodyPr>
          <a:lstStyle/>
          <a:p>
            <a:pPr indent="0" marL="0">
              <a:buNone/>
            </a:pPr>
            <a:r>
              <a:rPr lang="en-US" sz="1800" b="1" spc="80" kern="0" dirty="0">
                <a:solidFill>
                  <a:srgbClr val="45D483"/>
                </a:solidFill>
                <a:latin typeface="Arial" pitchFamily="34" charset="0"/>
                <a:ea typeface="Arial" pitchFamily="34" charset="-122"/>
                <a:cs typeface="Arial" pitchFamily="34" charset="-120"/>
              </a:rPr>
              <a:t>03</a:t>
            </a:r>
            <a:endParaRPr lang="en-US" sz="1800" dirty="0"/>
          </a:p>
        </p:txBody>
      </p:sp>
      <p:sp>
        <p:nvSpPr>
          <p:cNvPr id="14" name="Text 12"/>
          <p:cNvSpPr/>
          <p:nvPr/>
        </p:nvSpPr>
        <p:spPr>
          <a:xfrm>
            <a:off x="7388352" y="2450592"/>
            <a:ext cx="2423160" cy="640080"/>
          </a:xfrm>
          <a:prstGeom prst="rect">
            <a:avLst/>
          </a:prstGeom>
          <a:noFill/>
          <a:ln/>
        </p:spPr>
        <p:txBody>
          <a:bodyPr wrap="square" lIns="0" tIns="0" rIns="0" bIns="0" rtlCol="0" anchor="t">
            <a:normAutofit/>
          </a:bodyPr>
          <a:lstStyle/>
          <a:p>
            <a:pPr indent="0" marL="0">
              <a:buNone/>
            </a:pPr>
            <a:r>
              <a:rPr lang="en-US" sz="2200" b="1" dirty="0">
                <a:solidFill>
                  <a:srgbClr val="F4F7FB"/>
                </a:solidFill>
                <a:latin typeface="Arial" pitchFamily="34" charset="0"/>
                <a:ea typeface="Arial" pitchFamily="34" charset="-122"/>
                <a:cs typeface="Arial" pitchFamily="34" charset="-120"/>
              </a:rPr>
              <a:t>HUMAN CONTROL</a:t>
            </a:r>
            <a:endParaRPr lang="en-US" sz="2200" dirty="0"/>
          </a:p>
        </p:txBody>
      </p:sp>
      <p:sp>
        <p:nvSpPr>
          <p:cNvPr id="15" name="Text 13"/>
          <p:cNvSpPr/>
          <p:nvPr/>
        </p:nvSpPr>
        <p:spPr>
          <a:xfrm>
            <a:off x="7388352" y="3401568"/>
            <a:ext cx="2395728" cy="640080"/>
          </a:xfrm>
          <a:prstGeom prst="rect">
            <a:avLst/>
          </a:prstGeom>
          <a:noFill/>
          <a:ln/>
        </p:spPr>
        <p:txBody>
          <a:bodyPr wrap="square" lIns="0" tIns="0" rIns="0" bIns="0" rtlCol="0" anchor="t">
            <a:normAutofit/>
          </a:bodyPr>
          <a:lstStyle/>
          <a:p>
            <a:pPr indent="0" marL="0">
              <a:buNone/>
            </a:pPr>
            <a:r>
              <a:rPr lang="en-US" sz="1700" dirty="0">
                <a:solidFill>
                  <a:srgbClr val="9AAABD"/>
                </a:solidFill>
                <a:latin typeface="Arial" pitchFamily="34" charset="0"/>
                <a:ea typeface="Arial" pitchFamily="34" charset="-122"/>
                <a:cs typeface="Arial" pitchFamily="34" charset="-120"/>
              </a:rPr>
              <a:t>Return to the supporting source.</a:t>
            </a:r>
            <a:endParaRPr lang="en-US" sz="1700" dirty="0"/>
          </a:p>
        </p:txBody>
      </p:sp>
      <p:sp>
        <p:nvSpPr>
          <p:cNvPr id="16" name="Text 14"/>
          <p:cNvSpPr/>
          <p:nvPr/>
        </p:nvSpPr>
        <p:spPr>
          <a:xfrm>
            <a:off x="914400" y="5120640"/>
            <a:ext cx="10332720" cy="530352"/>
          </a:xfrm>
          <a:prstGeom prst="rect">
            <a:avLst/>
          </a:prstGeom>
          <a:noFill/>
          <a:ln/>
        </p:spPr>
        <p:txBody>
          <a:bodyPr wrap="square" lIns="0" tIns="0" rIns="0" bIns="0" rtlCol="0" anchor="ctr">
            <a:normAutofit/>
          </a:bodyPr>
          <a:lstStyle/>
          <a:p>
            <a:pPr algn="ctr" indent="0" marL="0">
              <a:buNone/>
            </a:pPr>
            <a:r>
              <a:rPr lang="en-US" sz="2600" b="1" dirty="0">
                <a:solidFill>
                  <a:srgbClr val="F4F7FB"/>
                </a:solidFill>
                <a:latin typeface="Arial" pitchFamily="34" charset="0"/>
                <a:ea typeface="Arial" pitchFamily="34" charset="-122"/>
                <a:cs typeface="Arial" pitchFamily="34" charset="-120"/>
              </a:rPr>
              <a:t>A practical pattern for document-heavy workflows — grounded, selective, and reviewable.</a:t>
            </a:r>
            <a:endParaRPr lang="en-US" sz="2600" dirty="0"/>
          </a:p>
        </p:txBody>
      </p:sp>
      <p:sp>
        <p:nvSpPr>
          <p:cNvPr id="17" name="Text 15"/>
          <p:cNvSpPr/>
          <p:nvPr/>
        </p:nvSpPr>
        <p:spPr>
          <a:xfrm>
            <a:off x="3291840" y="5870448"/>
            <a:ext cx="5596128" cy="219456"/>
          </a:xfrm>
          <a:prstGeom prst="rect">
            <a:avLst/>
          </a:prstGeom>
          <a:noFill/>
          <a:ln/>
        </p:spPr>
        <p:txBody>
          <a:bodyPr wrap="square" lIns="0" tIns="0" rIns="0" bIns="0" rtlCol="0" anchor="ctr">
            <a:normAutofit/>
          </a:bodyPr>
          <a:lstStyle/>
          <a:p>
            <a:pPr algn="ctr" indent="0" marL="0">
              <a:buNone/>
            </a:pPr>
            <a:r>
              <a:rPr lang="en-US" sz="1300" b="1" dirty="0">
                <a:solidFill>
                  <a:srgbClr val="F7B955"/>
                </a:solidFill>
                <a:latin typeface="Arial" pitchFamily="34" charset="0"/>
                <a:ea typeface="Arial" pitchFamily="34" charset="-122"/>
                <a:cs typeface="Arial" pitchFamily="34" charset="-120"/>
              </a:rPr>
              <a:t>Project-inspired prototype; not production deployed.</a:t>
            </a:r>
            <a:endParaRPr lang="en-US" sz="1300" dirty="0"/>
          </a:p>
        </p:txBody>
      </p:sp>
      <p:sp>
        <p:nvSpPr>
          <p:cNvPr id="25" name="Slide Number Placeholder 0"/>
          <p:cNvSpPr>
            <a:spLocks noGrp="1"/>
          </p:cNvSpPr>
          <p:nvPr>
            <p:ph type="sldNum" sz="quarter" idx="4294967295"/>
          </p:nvPr>
        </p:nvSpPr>
        <p:spPr>
          <a:xfrm>
            <a:off x="11356848" y="6519672"/>
            <a:ext cx="274320" cy="146304"/>
          </a:xfrm>
          <a:prstGeom prst="rect">
            <a:avLst/>
          </a:prstGeom>
          <a:extLst>
            <a:ext uri="{C572A759-6A51-4108-AA02-DFA0A04FC94B}">
              <ma14:wrappingTextBoxFlag xmlns:ma14="http://schemas.microsoft.com/office/mac/drawingml/2011/main" val="0"/>
            </a:ext>
          </a:extLst>
        </p:spPr>
        <p:txBody>
          <a:bodyPr lIns="0" tIns="0" rIns="0" bIns="0"/>
          <a:lstStyle>
            <a:lvl1pPr>
              <a:defRPr sz="800">
                <a:solidFill>
                  <a:srgbClr val="66788D"/>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Grounded DocParse — Five-Minute Video Demo</dc:title>
  <dc:subject>Accelerate with AI — Grounded DocParse video demo</dc:subject>
  <dc:creator>Ahmad Mujtaba</dc:creator>
  <cp:lastModifiedBy>Ahmad Mujtaba</cp:lastModifiedBy>
  <cp:revision>1</cp:revision>
  <dcterms:created xsi:type="dcterms:W3CDTF">2026-07-30T14:04:03Z</dcterms:created>
  <dcterms:modified xsi:type="dcterms:W3CDTF">2026-07-30T14:04:03Z</dcterms:modified>
</cp:coreProperties>
</file>