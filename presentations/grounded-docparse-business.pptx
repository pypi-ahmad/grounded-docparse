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product in business terms: it turns document packets into readable and structured outputs while keeping a path back to the source.
[Sources]
- README.md
- docs/complete-user-guide.md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problem is not simply OCR accuracy. Teams need outputs that can be checked and integrated without losing where information appeared.
[Sources]
- README.md
- docs/complete-user-guide.md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operator journey in the interface. Parsing is the required foundation; routing and extraction are optional controls layered on top.
[Sources]
- docs/images/document-parse-studio-full.png
- docs/complete-user-guide.md
- docs/business-user-extraction-workflow.md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configurability without code. A business user can define categories and fields in the UI, with JSON and Markdown import for repeatable workflows.
[Sources]
- README.md
- docs/complete-user-guide.md
- docs/business-user-extraction-workflow.md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an abstract medical-fax example. The packet may contain several form types, but the workflow selects only the new-request segment for extraction.
[Sources]
- docs/business-user-extraction-workflow.md
- docs/complete-user-guide.md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evidence as a control, not decoration. The application resolves referenced elements so a reviewer can validate the proposed value.
[Sources]
- docs/spec.md
- docs/complete-user-guide.md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workflow is designed around human oversight. Definitions, exception handling, and evidence review are explicit operating controls.
[Sources]
- docs/business-user-extraction-workflow.md
- docs/complete-user-guide.md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Generalize the scenario. The value is a reusable pattern: parse, optionally route, then extract according to user-defined definitions.
[Sources]
- README.md
- docs/complete-user-guide.md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realistic expectations. The current UI is suited to interactive processing; sustained bulk fax operations need durable infrastructure and operating controls.
[Sources]
- README.md
- docs/azure-bulk-fax-deployment.md
- SETUP.md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deployment blueprint, not a claim about the current app. A durable queue and worker model are the key changes for bulk processing.
[Sources]
- docs/azure-bulk-fax-deployment.md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controlled pilot recommendation. The pilot should measure routing quality, field acceptance, exception volume, and review effort on representative documents.
[Sources]
- docs/business-user-extraction-workflow.md
- docs/azure-bulk-fax-deployment.md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Business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658368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658368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658368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39728" y="658368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6053328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5852160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38560" y="6053328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39728" y="5852160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877824"/>
            <a:ext cx="228600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90525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WORKFLOW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1481328"/>
            <a:ext cx="781812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Documents to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22960" y="3584448"/>
            <a:ext cx="7086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once, route what matters, and extract reviewable data with source evidence.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549640" y="1901952"/>
            <a:ext cx="1170432" cy="694944"/>
          </a:xfrm>
          <a:prstGeom prst="line">
            <a:avLst/>
          </a:prstGeom>
          <a:noFill/>
          <a:ln w="25400">
            <a:solidFill>
              <a:srgbClr val="796F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20072" y="2596896"/>
            <a:ext cx="914400" cy="1234440"/>
          </a:xfrm>
          <a:prstGeom prst="line">
            <a:avLst/>
          </a:prstGeom>
          <a:noFill/>
          <a:ln w="25400">
            <a:solidFill>
              <a:srgbClr val="58D5F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83296" y="1426464"/>
            <a:ext cx="1335024" cy="1078992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0" y="2276856"/>
            <a:ext cx="1353312" cy="1078992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3886200"/>
            <a:ext cx="1115568" cy="877824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83296" y="16459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09760" y="2542032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966960" y="410565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524865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operations, product, risk, and technical stakeholders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Business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alone is not enough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missing context is often the difference between usable and risky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572768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value is easier to trust when a reviewer can see where it came from.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49808" y="3090672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preserves page location, element identity, and source context alongside readable text and structured outputs.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06640" y="1508760"/>
            <a:ext cx="4041648" cy="120700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79792" y="1581912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79792" y="1581912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73968" y="1581912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75136" y="1581912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9792" y="2642616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79792" y="2441448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73968" y="2642616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75136" y="2441448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1709928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35240" y="222199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for people and downstream language tasks.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06640" y="2926080"/>
            <a:ext cx="4041648" cy="120700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79792" y="2999232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79792" y="2999232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173968" y="2999232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75136" y="2999232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79792" y="4059936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79792" y="3858768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173968" y="4059936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375136" y="3858768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3127248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635240" y="363931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contracts for systems and automation.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06640" y="4343400"/>
            <a:ext cx="4041648" cy="120700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79792" y="4416552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79792" y="4416552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73968" y="4416552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375136" y="4416552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79792" y="5477256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79792" y="5276088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73968" y="5477256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375136" y="5276088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35240" y="4544568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REVIEWABLE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635240" y="505663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links and annotated previews for verification.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Business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controlled path from intake to handoff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steps are enabled only when the use case needs them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1600200"/>
            <a:ext cx="2907792" cy="811987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942186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1673352"/>
            <a:ext cx="2249424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one or more PDFs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2521915"/>
            <a:ext cx="2907792" cy="811987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2863901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2595067"/>
            <a:ext cx="2249424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into text, layout, IDs, and boxes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3443630"/>
            <a:ext cx="2907792" cy="811987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785616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3516782"/>
            <a:ext cx="2249424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relevant documents or segments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4365346"/>
            <a:ext cx="2907792" cy="811987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4707331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4438498"/>
            <a:ext cx="2249424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using business-defined fields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" y="5287061"/>
            <a:ext cx="2907792" cy="811987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5629046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5360213"/>
            <a:ext cx="2249424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evidence and download structured results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822192" y="1572768"/>
            <a:ext cx="7699248" cy="4535424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pic>
        <p:nvPicPr>
          <p:cNvPr id="24" name="Image 0" descr="Sanitized Grounded DocParse application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773936"/>
            <a:ext cx="5925312" cy="411480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663440" y="1728216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63440" y="1728216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479024" y="1728216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680192" y="1728216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63440" y="5934456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63440" y="5733288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479024" y="5934456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680192" y="5733288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CONTROL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Business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operator decides how much automation to use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features are configured in plain business language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1572768"/>
            <a:ext cx="5317236" cy="2139696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645920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645920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28716" y="1645920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29884" y="1645920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" y="3639312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" y="3438144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28716" y="3639312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29884" y="3438144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" y="1773936"/>
            <a:ext cx="347472" cy="347472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1773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44168" y="1755648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ONLY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2286000"/>
            <a:ext cx="486003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Markdown, structured JSON, and an annotated preview without using optional reasoning.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04204" y="1572768"/>
            <a:ext cx="5317236" cy="2139696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7356" y="1645920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7356" y="1645920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1645920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48288" y="1645920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77356" y="3639312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7356" y="3438144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47120" y="3639312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48288" y="3438144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5372" y="1773936"/>
            <a:ext cx="347472" cy="347472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5372" y="1773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62572" y="1755648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432804" y="2286000"/>
            <a:ext cx="486003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categories and choose which categories are eligible for the next step.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5800" y="3913632"/>
            <a:ext cx="5317236" cy="2139696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" y="3986784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" y="3986784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28716" y="3986784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29884" y="3986784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8952" y="5980176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8952" y="5779008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28716" y="5980176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29884" y="5779008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6968" y="4114800"/>
            <a:ext cx="347472" cy="347472"/>
          </a:xfrm>
          <a:prstGeom prst="ellipse">
            <a:avLst/>
          </a:prstGeom>
          <a:solidFill>
            <a:srgbClr val="45D483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6968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344168" y="4096512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914400" y="4626864"/>
            <a:ext cx="486003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a mixed packet into contiguous category ranges while preserving page order.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204204" y="3913632"/>
            <a:ext cx="5317236" cy="2139696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77356" y="3986784"/>
            <a:ext cx="201168" cy="0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77356" y="3986784"/>
            <a:ext cx="0" cy="201168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247120" y="3986784"/>
            <a:ext cx="201168" cy="0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448288" y="3986784"/>
            <a:ext cx="0" cy="201168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77356" y="5980176"/>
            <a:ext cx="201168" cy="0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77356" y="5779008"/>
            <a:ext cx="0" cy="201168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247120" y="5980176"/>
            <a:ext cx="201168" cy="0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448288" y="5779008"/>
            <a:ext cx="0" cy="201168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05372" y="4114800"/>
            <a:ext cx="347472" cy="347472"/>
          </a:xfrm>
          <a:prstGeom prst="ellipse">
            <a:avLst/>
          </a:prstGeom>
          <a:solidFill>
            <a:srgbClr val="F7B955"/>
          </a:solidFill>
          <a:ln w="12700">
            <a:solidFill>
              <a:srgbClr val="F7B9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5372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862572" y="4096512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6432804" y="4626864"/>
            <a:ext cx="486003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fields in input boxes, upload JSON, or import a Markdown field list.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SCENARIO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Business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route only the relevant form from a mixed fax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workflow - no patient or document details shown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5087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FAX PACKET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" y="1956816"/>
            <a:ext cx="2743200" cy="5669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6678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05740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1-2 | Cover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3232" y="2715768"/>
            <a:ext cx="2743200" cy="5669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81635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3-5 | New request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3232" y="3474720"/>
            <a:ext cx="2743200" cy="5669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F7B9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575304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6-7 | Records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3232" y="4233672"/>
            <a:ext cx="2743200" cy="5669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334256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8-9 | Update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03320" y="3310128"/>
            <a:ext cx="960120" cy="0"/>
          </a:xfrm>
          <a:prstGeom prst="line">
            <a:avLst/>
          </a:prstGeom>
          <a:noFill/>
          <a:ln w="27940">
            <a:solidFill>
              <a:srgbClr val="58D5F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709160" y="2148840"/>
            <a:ext cx="2468880" cy="2331720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4963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ROUTING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010912" y="318211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 describe the business meaning of each form type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269480" y="3310128"/>
            <a:ext cx="932688" cy="0"/>
          </a:xfrm>
          <a:prstGeom prst="line">
            <a:avLst/>
          </a:prstGeom>
          <a:noFill/>
          <a:ln w="27940">
            <a:solidFill>
              <a:srgbClr val="45D48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266176" y="1947672"/>
            <a:ext cx="3200400" cy="277063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58784" y="2249424"/>
            <a:ext cx="1975104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50224" y="2276856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D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13648" y="2907792"/>
            <a:ext cx="24871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request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613648" y="404164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 for extraction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78992" y="532180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selected segment moves forward; all categories remain visible for review.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Business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travels with the accepted value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reviewer can move from output back to the source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20440" y="3236976"/>
            <a:ext cx="960120" cy="0"/>
          </a:xfrm>
          <a:prstGeom prst="line">
            <a:avLst/>
          </a:prstGeom>
          <a:noFill/>
          <a:ln w="25400">
            <a:solidFill>
              <a:srgbClr val="796F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08392" y="3236976"/>
            <a:ext cx="932688" cy="0"/>
          </a:xfrm>
          <a:prstGeom prst="line">
            <a:avLst/>
          </a:prstGeom>
          <a:noFill/>
          <a:ln w="25400">
            <a:solidFill>
              <a:srgbClr val="45D48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8368" y="1901952"/>
            <a:ext cx="2871216" cy="29077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975104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975104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55264" y="1975104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56432" y="1975104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736592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535424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55264" y="4736592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56432" y="4535424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210312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REQUESTED FIELD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6968" y="2615184"/>
            <a:ext cx="241401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business-defined name and description explain what should be captured.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498848" y="1901952"/>
            <a:ext cx="3200400" cy="29077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975104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1975104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24928" y="1975104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26096" y="1975104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4736592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4535424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24928" y="4736592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6096" y="4535424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2103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VALUE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727448" y="2615184"/>
            <a:ext cx="27432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optional extraction stage returns a structured value and evidence references.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659368" y="1901952"/>
            <a:ext cx="2871216" cy="29077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32520" y="1975104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32520" y="1975104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256264" y="1975104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457432" y="1975104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32520" y="4736592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32520" y="4535424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256264" y="4736592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57432" y="4535424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87968" y="210312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CONTEXT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887968" y="2615184"/>
            <a:ext cx="241401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Page, element, and bounding box support rapid review and correction.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828800" y="5257800"/>
            <a:ext cx="8503920" cy="566928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03120" y="53492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proposes; evidence and review govern acceptance.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OVERSIGHT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Business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stays visible to the operator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controls keep exceptions from disappearing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1664208"/>
            <a:ext cx="3529584" cy="4160520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01952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73352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78408" y="2578608"/>
            <a:ext cx="2889504" cy="0"/>
          </a:xfrm>
          <a:prstGeom prst="line">
            <a:avLst/>
          </a:prstGeom>
          <a:noFill/>
          <a:ln w="15240">
            <a:solidFill>
              <a:srgbClr val="2A3B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907792"/>
            <a:ext cx="29077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supply category and field descriptions that reflect the actual workflow.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78408" y="5074920"/>
            <a:ext cx="251460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5102352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intent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9704" y="1664208"/>
            <a:ext cx="3529584" cy="4160520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1901952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9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77256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782312" y="2578608"/>
            <a:ext cx="2889504" cy="0"/>
          </a:xfrm>
          <a:prstGeom prst="line">
            <a:avLst/>
          </a:prstGeom>
          <a:noFill/>
          <a:ln w="15240">
            <a:solidFill>
              <a:srgbClr val="2A3B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2907792"/>
            <a:ext cx="29077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or uncertain routing paths remain available for operator inspection.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82312" y="5074920"/>
            <a:ext cx="251460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5102352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9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path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93608" y="1664208"/>
            <a:ext cx="3529584" cy="4160520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22208" y="1901952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45D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281160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586216" y="2578608"/>
            <a:ext cx="2889504" cy="0"/>
          </a:xfrm>
          <a:prstGeom prst="line">
            <a:avLst/>
          </a:prstGeom>
          <a:noFill/>
          <a:ln w="15240">
            <a:solidFill>
              <a:srgbClr val="2A3B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86216" y="2907792"/>
            <a:ext cx="29077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Evidence-linked values can be checked before they reach another system.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86216" y="5074920"/>
            <a:ext cx="251460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77656" y="5102352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D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acceptance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Business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pattern applies beyond healthcare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parsing supports different document families without changing the core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1627632"/>
            <a:ext cx="2304288" cy="621792"/>
          </a:xfrm>
          <a:prstGeom prst="roundRect">
            <a:avLst/>
          </a:prstGeom>
          <a:solidFill>
            <a:srgbClr val="1D2D43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19072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FAMILY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90672" y="1627632"/>
            <a:ext cx="2834640" cy="621792"/>
          </a:xfrm>
          <a:prstGeom prst="roundRect">
            <a:avLst/>
          </a:prstGeom>
          <a:solidFill>
            <a:srgbClr val="1D2D43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71907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98464" y="1627632"/>
            <a:ext cx="2834640" cy="621792"/>
          </a:xfrm>
          <a:prstGeom prst="roundRect">
            <a:avLst/>
          </a:prstGeom>
          <a:solidFill>
            <a:srgbClr val="1D2D43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08192" y="171907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06256" y="1627632"/>
            <a:ext cx="2761488" cy="621792"/>
          </a:xfrm>
          <a:prstGeom prst="roundRect">
            <a:avLst/>
          </a:prstGeom>
          <a:solidFill>
            <a:srgbClr val="1D2D43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15984" y="171907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3232" y="2377440"/>
            <a:ext cx="2304288" cy="658368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245973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090672" y="2377440"/>
            <a:ext cx="2834640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8688" y="2459736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+ tables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98464" y="2377440"/>
            <a:ext cx="2834640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459736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/ credit / other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06256" y="2377440"/>
            <a:ext cx="2761488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34272" y="2459736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Number, date, total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3232" y="3163824"/>
            <a:ext cx="2304288" cy="658368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3246120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forms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090672" y="3163824"/>
            <a:ext cx="2834640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18688" y="324612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+ layout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98464" y="3163824"/>
            <a:ext cx="2834640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324612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type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906256" y="3163824"/>
            <a:ext cx="2761488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34272" y="3246120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Business-required fields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13232" y="3950208"/>
            <a:ext cx="2304288" cy="658368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4032504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090672" y="3950208"/>
            <a:ext cx="2834640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18688" y="4032504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 + figures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98464" y="3950208"/>
            <a:ext cx="2834640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4032504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category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906256" y="3950208"/>
            <a:ext cx="2761488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34272" y="403250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facts and summaries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13232" y="4736592"/>
            <a:ext cx="2304288" cy="658368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248" y="4818888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3090672" y="4736592"/>
            <a:ext cx="2834640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18688" y="4818888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+ evidence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998464" y="4736592"/>
            <a:ext cx="2834640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4818888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subtype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906256" y="4736592"/>
            <a:ext cx="2761488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34272" y="4818888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fields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41248" y="58064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and field definitions remain use-case specific; the grounded pipeline stays the same.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Business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as an operator-led workstation workflow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current boundaries before scaling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340096" cy="440740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10512"/>
            <a:ext cx="169164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3794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FIT TODAY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23317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processing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932688" y="3063240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" y="3381756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89888" y="3136392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upload and review documents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2688" y="3938016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" y="4256532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9888" y="4011168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are downloaded per session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2688" y="4812792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" y="5131308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89888" y="4885944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OCR service is available and monitored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81344" y="1572768"/>
            <a:ext cx="5340096" cy="4407408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37376" y="1810512"/>
            <a:ext cx="169164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28816" y="183794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9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TODAY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55664" y="23317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a bulk service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6455664" y="3063240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38544" y="3381756"/>
            <a:ext cx="128016" cy="12801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12864" y="3136392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session is not a durable job queue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55664" y="3938016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38544" y="4256532"/>
            <a:ext cx="128016" cy="12801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12864" y="4011168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batches need capacity planning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55664" y="4812792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38544" y="5131308"/>
            <a:ext cx="128016" cy="12801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12864" y="4885944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Retention, access, and review policy remain deployment responsibilities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PATH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Business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Azure path for bulk faxes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intake, durable work, processing, review, and export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31720" y="2706624"/>
            <a:ext cx="219456" cy="0"/>
          </a:xfrm>
          <a:prstGeom prst="line">
            <a:avLst/>
          </a:prstGeom>
          <a:noFill/>
          <a:ln w="2159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169664" y="2706624"/>
            <a:ext cx="219456" cy="0"/>
          </a:xfrm>
          <a:prstGeom prst="line">
            <a:avLst/>
          </a:prstGeom>
          <a:noFill/>
          <a:ln w="2159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07608" y="2706624"/>
            <a:ext cx="219456" cy="0"/>
          </a:xfrm>
          <a:prstGeom prst="line">
            <a:avLst/>
          </a:prstGeom>
          <a:noFill/>
          <a:ln w="2159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845552" y="2706624"/>
            <a:ext cx="219456" cy="0"/>
          </a:xfrm>
          <a:prstGeom prst="line">
            <a:avLst/>
          </a:prstGeom>
          <a:noFill/>
          <a:ln w="2159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683496" y="2706624"/>
            <a:ext cx="219456" cy="0"/>
          </a:xfrm>
          <a:prstGeom prst="line">
            <a:avLst/>
          </a:prstGeom>
          <a:noFill/>
          <a:ln w="2159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8368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157984"/>
            <a:ext cx="310896" cy="31089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3816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5528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Blob / managed upload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96312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60904" y="2157984"/>
            <a:ext cx="310896" cy="31089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60904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51760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633472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job message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34256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8848" y="2157984"/>
            <a:ext cx="310896" cy="310896"/>
          </a:xfrm>
          <a:prstGeom prst="ellipse">
            <a:avLst/>
          </a:prstGeom>
          <a:solidFill>
            <a:srgbClr val="45D483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98848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89704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471416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+ optional AI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36792" y="2157984"/>
            <a:ext cx="310896" cy="310896"/>
          </a:xfrm>
          <a:prstGeom prst="ellipse">
            <a:avLst/>
          </a:prstGeom>
          <a:solidFill>
            <a:srgbClr val="F7B955"/>
          </a:solidFill>
          <a:ln w="12700">
            <a:solidFill>
              <a:srgbClr val="F7B9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27648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09360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artifacts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10144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74736" y="2157984"/>
            <a:ext cx="310896" cy="310896"/>
          </a:xfrm>
          <a:prstGeom prst="ellipse">
            <a:avLst/>
          </a:prstGeom>
          <a:solidFill>
            <a:srgbClr val="FF7A72"/>
          </a:solidFill>
          <a:ln w="12700">
            <a:solidFill>
              <a:srgbClr val="FF7A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74736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65592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147304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workflow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848088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12680" y="2157984"/>
            <a:ext cx="310896" cy="31089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12680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03536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985248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handoff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325880" y="4160520"/>
            <a:ext cx="9555480" cy="1143000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27632" y="43525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79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CONTROLS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3977640" y="4279392"/>
            <a:ext cx="6537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Identity, private networking, observability, retention, and bounded concurrency.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DECISION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Business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bounded pilot before broad adoption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workflow fit and evidence quality - not a headline accuracy claim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1600200"/>
            <a:ext cx="5257800" cy="10789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" y="1865376"/>
            <a:ext cx="493776" cy="49377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18653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9344" y="176479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packet family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9344" y="213055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variation for the first evaluation.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" y="2953512"/>
            <a:ext cx="5257800" cy="10789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3544" y="3218688"/>
            <a:ext cx="493776" cy="49377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218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9344" y="3118104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categories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9344" y="348386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an explicit other or uncertain path.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3232" y="4306824"/>
            <a:ext cx="5257800" cy="10789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4572000"/>
            <a:ext cx="493776" cy="49377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45720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9344" y="44714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schema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9344" y="483717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descriptions that reviewers agree on.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99632" y="1600200"/>
            <a:ext cx="5257800" cy="10789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9944" y="1865376"/>
            <a:ext cx="493776" cy="49377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18653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95744" y="176479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review set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95744" y="213055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representative quality and edge cases.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99632" y="2953512"/>
            <a:ext cx="5257800" cy="10789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9944" y="3218688"/>
            <a:ext cx="493776" cy="49377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9944" y="3218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95744" y="3118104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operations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95744" y="348386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routing, extraction, review effort, and failures.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99632" y="4306824"/>
            <a:ext cx="5257800" cy="10789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9944" y="4572000"/>
            <a:ext cx="493776" cy="49377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9944" y="45720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95744" y="44714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acceptance rules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095744" y="483717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what may proceed and what requires review.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Grounded DocParse Business Overview</dc:title>
  <dc:subject>Business workflow and adoption overview</dc:subject>
  <dc:creator>Grounded DocParse</dc:creator>
  <cp:lastModifiedBy>Grounded DocParse</cp:lastModifiedBy>
  <cp:revision>1</cp:revision>
  <dcterms:created xsi:type="dcterms:W3CDTF">2026-07-30T11:23:10Z</dcterms:created>
  <dcterms:modified xsi:type="dcterms:W3CDTF">2026-07-30T11:23:10Z</dcterms:modified>
</cp:coreProperties>
</file>