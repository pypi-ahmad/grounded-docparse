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Contest talk track
Accelerate with AI learning was applied to a practical workplace problem: teams repeatedly read, categorize, re-key, and cross-check information across invoices, contracts, applications, certificates, reports, and other scanned documents.
Grounded DocParse turns that fragmented work into one reviewable pipeline. It parses a document once, supports classification and selective extraction, keeps returned values linked to page and bounding-box evidence, and exports structured results. Field and routing definitions can be entered in the UI or imported from JSON or Markdown.
The 1-to-4 figure describes prototype workflow reuse: one grounded parse supports classification, extraction, evidence review, and export. It is not a measured labor-saving result.
Practitioner manual source review covered six anonymous PDFs and 97 pages. Parsing, extraction, and grounded chat were each reviewed separately and each exceeded 95% correctness. Parsing review included checkbox states where checkboxes appeared. The document filenames, domains, and contents are intentionally omitted. These are practitioner-reported manual assessments rather than an independently audited benchmark; exact percentages and numerators are not asserted, and the result is not a representative production benchmark.
[Sources]
- README.md
- docs/business-user-extraction-workflow.md
- Practitioner manual source review, July 2026 (six anonymous PDFs, 97 pages)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GENERAL_CONTEST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2881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8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2881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8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19456"/>
            <a:ext cx="8138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ACCELERATE WITH AI  /  APPLIED LEARNING IN ACTION  /  AHMAD MUJTABA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502920"/>
            <a:ext cx="11018520" cy="4754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DocParse: From AI Learning to Reviewable Document Work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024128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reusable, evidence-linked accelerator for document-heavy 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1481328"/>
            <a:ext cx="2788920" cy="4315968"/>
          </a:xfrm>
          <a:prstGeom prst="roundRect">
            <a:avLst/>
          </a:prstGeom>
          <a:solidFill>
            <a:srgbClr val="111B29"/>
          </a:solidFill>
          <a:ln w="13970">
            <a:solidFill>
              <a:srgbClr val="FF7A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007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7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2039112"/>
            <a:ext cx="2258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manual steps repeat for every document.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813816" y="2999232"/>
            <a:ext cx="292608" cy="292608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2999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43584" y="2990088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43584" y="3163824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relevant content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" y="3529584"/>
            <a:ext cx="292608" cy="292608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43584" y="3520440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43584" y="369417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document type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" y="4059936"/>
            <a:ext cx="292608" cy="292608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" y="4059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43584" y="4050792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RE-KEY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43584" y="4224528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required information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" y="4590288"/>
            <a:ext cx="292608" cy="292608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4590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43584" y="4581144"/>
            <a:ext cx="15544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70" kern="0" dirty="0">
                <a:solidFill>
                  <a:srgbClr val="F7B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CROSS-CHECK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243584" y="4754880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to the source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" y="5266944"/>
            <a:ext cx="2286000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5385816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handoff adds effort and weakens traceability.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547872" y="1481328"/>
            <a:ext cx="4901184" cy="4315968"/>
          </a:xfrm>
          <a:prstGeom prst="roundRect">
            <a:avLst/>
          </a:prstGeom>
          <a:solidFill>
            <a:srgbClr val="111B29"/>
          </a:solidFill>
          <a:ln w="13970">
            <a:solidFill>
              <a:srgbClr val="58D5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85616" y="1700784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32120" y="166420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grounded pipeline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3785616" y="2066544"/>
            <a:ext cx="941832" cy="694944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904488" y="2185416"/>
            <a:ext cx="210312" cy="265176"/>
          </a:xfrm>
          <a:prstGeom prst="rect">
            <a:avLst/>
          </a:prstGeom>
          <a:solidFill>
            <a:srgbClr val="1D2D43"/>
          </a:solidFill>
          <a:ln w="10160">
            <a:solidFill>
              <a:srgbClr val="58D5F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41064" y="2276856"/>
            <a:ext cx="137160" cy="0"/>
          </a:xfrm>
          <a:prstGeom prst="line">
            <a:avLst/>
          </a:prstGeom>
          <a:noFill/>
          <a:ln w="8890">
            <a:solidFill>
              <a:srgbClr val="58D5F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41064" y="2340864"/>
            <a:ext cx="109728" cy="0"/>
          </a:xfrm>
          <a:prstGeom prst="line">
            <a:avLst/>
          </a:prstGeom>
          <a:noFill/>
          <a:ln w="8890">
            <a:solidFill>
              <a:srgbClr val="58D5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77056" y="251460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92040" y="2066544"/>
            <a:ext cx="941832" cy="694944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10912" y="2185416"/>
            <a:ext cx="210312" cy="265176"/>
          </a:xfrm>
          <a:prstGeom prst="rect">
            <a:avLst/>
          </a:prstGeom>
          <a:solidFill>
            <a:srgbClr val="1D2D43"/>
          </a:solidFill>
          <a:ln w="10160">
            <a:solidFill>
              <a:srgbClr val="796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47488" y="2276856"/>
            <a:ext cx="137160" cy="0"/>
          </a:xfrm>
          <a:prstGeom prst="line">
            <a:avLst/>
          </a:prstGeom>
          <a:noFill/>
          <a:ln w="8890">
            <a:solidFill>
              <a:srgbClr val="796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47488" y="2340864"/>
            <a:ext cx="109728" cy="0"/>
          </a:xfrm>
          <a:prstGeom prst="line">
            <a:avLst/>
          </a:prstGeom>
          <a:noFill/>
          <a:ln w="8890">
            <a:solidFill>
              <a:srgbClr val="796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51460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98464" y="2066544"/>
            <a:ext cx="941832" cy="694944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17336" y="2185416"/>
            <a:ext cx="210312" cy="265176"/>
          </a:xfrm>
          <a:prstGeom prst="rect">
            <a:avLst/>
          </a:prstGeom>
          <a:solidFill>
            <a:srgbClr val="1D2D43"/>
          </a:solidFill>
          <a:ln w="10160">
            <a:solidFill>
              <a:srgbClr val="45D48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53912" y="2276856"/>
            <a:ext cx="137160" cy="0"/>
          </a:xfrm>
          <a:prstGeom prst="line">
            <a:avLst/>
          </a:prstGeom>
          <a:noFill/>
          <a:ln w="8890">
            <a:solidFill>
              <a:srgbClr val="45D48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153912" y="2340864"/>
            <a:ext cx="109728" cy="0"/>
          </a:xfrm>
          <a:prstGeom prst="line">
            <a:avLst/>
          </a:prstGeom>
          <a:noFill/>
          <a:ln w="8890">
            <a:solidFill>
              <a:srgbClr val="45D48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89904" y="251460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104888" y="2066544"/>
            <a:ext cx="941832" cy="694944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23760" y="2185416"/>
            <a:ext cx="210312" cy="265176"/>
          </a:xfrm>
          <a:prstGeom prst="rect">
            <a:avLst/>
          </a:prstGeom>
          <a:solidFill>
            <a:srgbClr val="1D2D43"/>
          </a:solidFill>
          <a:ln w="10160">
            <a:solidFill>
              <a:srgbClr val="F7B9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260336" y="2276856"/>
            <a:ext cx="137160" cy="0"/>
          </a:xfrm>
          <a:prstGeom prst="line">
            <a:avLst/>
          </a:prstGeom>
          <a:noFill/>
          <a:ln w="8890">
            <a:solidFill>
              <a:srgbClr val="F7B9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0336" y="2340864"/>
            <a:ext cx="109728" cy="0"/>
          </a:xfrm>
          <a:prstGeom prst="line">
            <a:avLst/>
          </a:prstGeom>
          <a:noFill/>
          <a:ln w="8890">
            <a:solidFill>
              <a:srgbClr val="F7B9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96328" y="2514600"/>
            <a:ext cx="758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916168" y="2816352"/>
            <a:ext cx="0" cy="274320"/>
          </a:xfrm>
          <a:prstGeom prst="line">
            <a:avLst/>
          </a:prstGeom>
          <a:noFill/>
          <a:ln w="1778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4690872" y="3611880"/>
            <a:ext cx="91440" cy="0"/>
          </a:xfrm>
          <a:prstGeom prst="line">
            <a:avLst/>
          </a:prstGeom>
          <a:noFill/>
          <a:ln w="1524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5943600" y="3611880"/>
            <a:ext cx="91440" cy="0"/>
          </a:xfrm>
          <a:prstGeom prst="line">
            <a:avLst/>
          </a:prstGeom>
          <a:noFill/>
          <a:ln w="1524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7260336" y="3611880"/>
            <a:ext cx="91440" cy="0"/>
          </a:xfrm>
          <a:prstGeom prst="line">
            <a:avLst/>
          </a:prstGeom>
          <a:noFill/>
          <a:ln w="15240">
            <a:solidFill>
              <a:srgbClr val="66788D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3749040" y="3209544"/>
            <a:ext cx="914400" cy="804672"/>
          </a:xfrm>
          <a:prstGeom prst="roundRect">
            <a:avLst/>
          </a:prstGeom>
          <a:solidFill>
            <a:srgbClr val="1D2D43"/>
          </a:solidFill>
          <a:ln w="15240">
            <a:solidFill>
              <a:srgbClr val="58D5F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58768" y="3319272"/>
            <a:ext cx="201168" cy="201168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858768" y="3557016"/>
            <a:ext cx="694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840480" y="377647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18888" y="3209544"/>
            <a:ext cx="1097280" cy="804672"/>
          </a:xfrm>
          <a:prstGeom prst="roundRect">
            <a:avLst/>
          </a:prstGeom>
          <a:solidFill>
            <a:srgbClr val="1D2D43"/>
          </a:solidFill>
          <a:ln w="15240">
            <a:solidFill>
              <a:srgbClr val="796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28616" y="3319272"/>
            <a:ext cx="201168" cy="201168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928616" y="3557016"/>
            <a:ext cx="877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910328" y="3776472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extract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6071616" y="3209544"/>
            <a:ext cx="1161288" cy="804672"/>
          </a:xfrm>
          <a:prstGeom prst="roundRect">
            <a:avLst/>
          </a:prstGeom>
          <a:solidFill>
            <a:srgbClr val="1D2D43"/>
          </a:solidFill>
          <a:ln w="15240">
            <a:solidFill>
              <a:srgbClr val="45D48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181344" y="3319272"/>
            <a:ext cx="201168" cy="201168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81344" y="3557016"/>
            <a:ext cx="9418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163056" y="3776472"/>
            <a:ext cx="9784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evidence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7388352" y="3209544"/>
            <a:ext cx="850392" cy="804672"/>
          </a:xfrm>
          <a:prstGeom prst="roundRect">
            <a:avLst/>
          </a:prstGeom>
          <a:solidFill>
            <a:srgbClr val="1D2D43"/>
          </a:solidFill>
          <a:ln w="15240">
            <a:solidFill>
              <a:srgbClr val="F7B955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98080" y="3319272"/>
            <a:ext cx="201168" cy="201168"/>
          </a:xfrm>
          <a:prstGeom prst="ellipse">
            <a:avLst/>
          </a:prstGeom>
          <a:solidFill>
            <a:srgbClr val="F7B955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98080" y="3557016"/>
            <a:ext cx="630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7479792" y="3776472"/>
            <a:ext cx="6675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749040" y="4279392"/>
            <a:ext cx="2084832" cy="749808"/>
          </a:xfrm>
          <a:prstGeom prst="roundRect">
            <a:avLst/>
          </a:prstGeom>
          <a:solidFill>
            <a:srgbClr val="172438"/>
          </a:solidFill>
          <a:ln w="13970">
            <a:solidFill>
              <a:srgbClr val="796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913632" y="4407408"/>
            <a:ext cx="1755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DEFINITIONS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3913632" y="4626864"/>
            <a:ext cx="17007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defined in the UI, JSON, or Markdown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044184" y="4279392"/>
            <a:ext cx="2194560" cy="749808"/>
          </a:xfrm>
          <a:prstGeom prst="roundRect">
            <a:avLst/>
          </a:prstGeom>
          <a:solidFill>
            <a:srgbClr val="172438"/>
          </a:solidFill>
          <a:ln w="13970">
            <a:solidFill>
              <a:srgbClr val="45D48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208776" y="440740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SELECTIVE PROCESSING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6208776" y="4626864"/>
            <a:ext cx="18105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approved segments continue to extraction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3749040" y="5248656"/>
            <a:ext cx="4489704" cy="356616"/>
          </a:xfrm>
          <a:prstGeom prst="roundRect">
            <a:avLst/>
          </a:prstGeom>
          <a:solidFill>
            <a:srgbClr val="1D2D43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931920" y="5340096"/>
            <a:ext cx="4123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spc="45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STAY LINKED TO PAGE + BOUNDING-BOX EVIDENCE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8659368" y="1481328"/>
            <a:ext cx="2971800" cy="4315968"/>
          </a:xfrm>
          <a:prstGeom prst="roundRect">
            <a:avLst/>
          </a:prstGeom>
          <a:solidFill>
            <a:srgbClr val="111B29"/>
          </a:solidFill>
          <a:ln w="13970">
            <a:solidFill>
              <a:srgbClr val="45D48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97112" y="17007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 + VALIDATION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887968" y="19933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4</a:t>
            </a:r>
            <a:endParaRPr lang="en-US" sz="3400" dirty="0"/>
          </a:p>
        </p:txBody>
      </p:sp>
      <p:sp>
        <p:nvSpPr>
          <p:cNvPr id="80" name="Text 78"/>
          <p:cNvSpPr/>
          <p:nvPr/>
        </p:nvSpPr>
        <p:spPr>
          <a:xfrm>
            <a:off x="8906256" y="2514600"/>
            <a:ext cx="2267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parse reused for classification, extraction, evidence review, and export</a:t>
            </a:r>
            <a:endParaRPr lang="en-US" sz="1150" dirty="0"/>
          </a:p>
        </p:txBody>
      </p:sp>
      <p:sp>
        <p:nvSpPr>
          <p:cNvPr id="81" name="Text 79"/>
          <p:cNvSpPr/>
          <p:nvPr/>
        </p:nvSpPr>
        <p:spPr>
          <a:xfrm>
            <a:off x="8906256" y="3054096"/>
            <a:ext cx="2212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workflow design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906256" y="3355848"/>
            <a:ext cx="2487168" cy="0"/>
          </a:xfrm>
          <a:prstGeom prst="line">
            <a:avLst/>
          </a:prstGeom>
          <a:noFill/>
          <a:ln w="12700">
            <a:solidFill>
              <a:srgbClr val="2A3B5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887968" y="3538728"/>
            <a:ext cx="2450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&gt;95% ACCURACY</a:t>
            </a:r>
            <a:endParaRPr lang="en-US" sz="2300" dirty="0"/>
          </a:p>
        </p:txBody>
      </p:sp>
      <p:sp>
        <p:nvSpPr>
          <p:cNvPr id="84" name="Shape 82"/>
          <p:cNvSpPr/>
          <p:nvPr/>
        </p:nvSpPr>
        <p:spPr>
          <a:xfrm>
            <a:off x="8915400" y="4114800"/>
            <a:ext cx="137160" cy="137160"/>
          </a:xfrm>
          <a:prstGeom prst="ellipse">
            <a:avLst/>
          </a:prstGeom>
          <a:solidFill>
            <a:srgbClr val="58D5F8"/>
          </a:solidFill>
          <a:ln w="12700">
            <a:solidFill>
              <a:srgbClr val="58D5F8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180576" y="4041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45" kern="0" dirty="0">
                <a:solidFill>
                  <a:srgbClr val="58D5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10515600" y="4041648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&gt;95%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915400" y="4498848"/>
            <a:ext cx="137160" cy="137160"/>
          </a:xfrm>
          <a:prstGeom prst="ellipse">
            <a:avLst/>
          </a:prstGeom>
          <a:solidFill>
            <a:srgbClr val="796FFF"/>
          </a:solidFill>
          <a:ln w="12700">
            <a:solidFill>
              <a:srgbClr val="796FFF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180576" y="4425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45" kern="0" dirty="0">
                <a:solidFill>
                  <a:srgbClr val="796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10515600" y="4425696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&gt;95%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8915400" y="4882896"/>
            <a:ext cx="137160" cy="137160"/>
          </a:xfrm>
          <a:prstGeom prst="ellipse">
            <a:avLst/>
          </a:prstGeom>
          <a:solidFill>
            <a:srgbClr val="45D483"/>
          </a:solidFill>
          <a:ln w="12700">
            <a:solidFill>
              <a:srgbClr val="45D483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9180576" y="48097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45" kern="0" dirty="0">
                <a:solidFill>
                  <a:srgbClr val="45D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CHAT</a:t>
            </a:r>
            <a:endParaRPr lang="en-US" sz="1100" dirty="0"/>
          </a:p>
        </p:txBody>
      </p:sp>
      <p:sp>
        <p:nvSpPr>
          <p:cNvPr id="92" name="Text 90"/>
          <p:cNvSpPr/>
          <p:nvPr/>
        </p:nvSpPr>
        <p:spPr>
          <a:xfrm>
            <a:off x="10515600" y="4809744"/>
            <a:ext cx="621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&gt;95%</a:t>
            </a:r>
            <a:endParaRPr lang="en-US" sz="1200" dirty="0"/>
          </a:p>
        </p:txBody>
      </p:sp>
      <p:sp>
        <p:nvSpPr>
          <p:cNvPr id="93" name="Text 91"/>
          <p:cNvSpPr/>
          <p:nvPr/>
        </p:nvSpPr>
        <p:spPr>
          <a:xfrm>
            <a:off x="8906256" y="52303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35" kern="0" dirty="0">
                <a:solidFill>
                  <a:srgbClr val="F7B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ANONYMOUS PDFs  ·  97 PAGES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8906256" y="546811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9AAA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Checkbox states included where present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66928" y="5980176"/>
            <a:ext cx="11064240" cy="384048"/>
          </a:xfrm>
          <a:prstGeom prst="roundRect">
            <a:avLst/>
          </a:prstGeom>
          <a:solidFill>
            <a:srgbClr val="172438"/>
          </a:solidFill>
          <a:ln w="12700">
            <a:solidFill>
              <a:srgbClr val="F7B95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49808" y="607161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7B9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PROJECT-INSPIRED PROTOTYPE; NOT PRODUCTION DEPLOYED.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4206240" y="6071616"/>
            <a:ext cx="7150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4F7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source review; not independently audited or a production benchmark.</a:t>
            </a:r>
            <a:endParaRPr lang="en-US" sz="950" dirty="0"/>
          </a:p>
        </p:txBody>
      </p:sp>
      <p:sp>
        <p:nvSpPr>
          <p:cNvPr id="98" name="Text 96"/>
          <p:cNvSpPr/>
          <p:nvPr/>
        </p:nvSpPr>
        <p:spPr>
          <a:xfrm>
            <a:off x="585216" y="6473952"/>
            <a:ext cx="1065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678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repository workflow documentation and practitioner manual source review. Method and qualifications in speaker notes.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28816"/>
            <a:ext cx="256032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66788D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Grounded DocParse: From AI Learning to Reviewable Document Work</dc:title>
  <dc:subject>Accelerate with AI — Applied Learning in Action contest entry</dc:subject>
  <dc:creator>Ahmad Mujtaba</dc:creator>
  <cp:lastModifiedBy>Ahmad Mujtaba</cp:lastModifiedBy>
  <cp:revision>1</cp:revision>
  <dcterms:created xsi:type="dcterms:W3CDTF">2026-07-30T13:45:07Z</dcterms:created>
  <dcterms:modified xsi:type="dcterms:W3CDTF">2026-07-30T13:45:07Z</dcterms:modified>
</cp:coreProperties>
</file>